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 i="0">
                <a:solidFill>
                  <a:srgbClr val="FFFFFF"/>
                </a:solidFill>
                <a:latin typeface="Calibri"/>
              </a:defRPr>
            </a:pPr>
            <a:r>
              <a:t>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 i="0">
                <a:solidFill>
                  <a:srgbClr val="FFFFFF"/>
                </a:solidFill>
                <a:latin typeface="Georgia"/>
              </a:defRPr>
            </a:pPr>
            <a:r>
              <a:t>Obtención de Repelente Natural</a:t>
            </a:r>
            <a:br/>
            <a:r>
              <a:t>a partir de Aceite Esencial de Eucalipto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3832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1">
                <a:solidFill>
                  <a:srgbClr val="E8D5A0"/>
                </a:solidFill>
                <a:latin typeface="Georgia"/>
              </a:defRPr>
            </a:pPr>
            <a:r>
              <a:t>Proyecto Final — Ingeniería Química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4023360"/>
            <a:ext cx="1554480" cy="18288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20624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BRESSO, Romina  ·  MACAGNO, Micaela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663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Directora: Ing. Sposetti, Patricia  |  Tutora: Ing. Dra. Taverna, María Eugenia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5120640"/>
            <a:ext cx="1554480" cy="1371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530352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Universidad Tecnológica Nacional — Facultad Regional San Francisco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66928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777777"/>
                </a:solidFill>
                <a:latin typeface="Calibri"/>
              </a:defRPr>
            </a:pPr>
            <a: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89988"/>
                </a:solidFill>
                <a:latin typeface="Calibri"/>
              </a:defRPr>
            </a:pPr>
            <a:r>
              <a:t>BLOQUE 1 · PORTADA Y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A3A2A"/>
                </a:solidFill>
                <a:latin typeface="Georgia"/>
              </a:defRPr>
            </a:pPr>
            <a:r>
              <a:t>Objetivos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914400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C5F2D"/>
                </a:solidFill>
                <a:latin typeface="Calibri"/>
              </a:rPr>
              <a:t>1.  </a:t>
            </a:r>
            <a:r>
              <a:rPr sz="1500">
                <a:solidFill>
                  <a:srgbClr val="1A2A1E"/>
                </a:solidFill>
                <a:latin typeface="Calibri"/>
              </a:rPr>
              <a:t>Describir la materia prima y el producto final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C5F2D"/>
                </a:solidFill>
                <a:latin typeface="Calibri"/>
              </a:rPr>
              <a:t>2.  </a:t>
            </a:r>
            <a:r>
              <a:rPr sz="1500">
                <a:solidFill>
                  <a:srgbClr val="1A2A1E"/>
                </a:solidFill>
                <a:latin typeface="Calibri"/>
              </a:rPr>
              <a:t>Identificar envases y rotulación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C5F2D"/>
                </a:solidFill>
                <a:latin typeface="Calibri"/>
              </a:rPr>
              <a:t>3.  </a:t>
            </a:r>
            <a:r>
              <a:rPr sz="1500">
                <a:solidFill>
                  <a:srgbClr val="1A2A1E"/>
                </a:solidFill>
                <a:latin typeface="Calibri"/>
              </a:rPr>
              <a:t>Definir localización de la planta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C5F2D"/>
                </a:solidFill>
                <a:latin typeface="Calibri"/>
              </a:rPr>
              <a:t>4.  </a:t>
            </a:r>
            <a:r>
              <a:rPr sz="1500">
                <a:solidFill>
                  <a:srgbClr val="1A2A1E"/>
                </a:solidFill>
                <a:latin typeface="Calibri"/>
              </a:rPr>
              <a:t>Detallar etapas del proceso productivo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C5F2D"/>
                </a:solidFill>
                <a:latin typeface="Calibri"/>
              </a:rPr>
              <a:t>5.  </a:t>
            </a:r>
            <a:r>
              <a:rPr sz="1500">
                <a:solidFill>
                  <a:srgbClr val="1A2A1E"/>
                </a:solidFill>
                <a:latin typeface="Calibri"/>
              </a:rPr>
              <a:t>Garantizar calidad mediante análisis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C5F2D"/>
                </a:solidFill>
                <a:latin typeface="Calibri"/>
              </a:rPr>
              <a:t>6.  </a:t>
            </a:r>
            <a:r>
              <a:rPr sz="1500">
                <a:solidFill>
                  <a:srgbClr val="1A2A1E"/>
                </a:solidFill>
                <a:latin typeface="Calibri"/>
              </a:rPr>
              <a:t>Establecer condiciones de seguridad e higiene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C5F2D"/>
                </a:solidFill>
                <a:latin typeface="Calibri"/>
              </a:rPr>
              <a:t>7.  </a:t>
            </a:r>
            <a:r>
              <a:rPr sz="1500">
                <a:solidFill>
                  <a:srgbClr val="1A2A1E"/>
                </a:solidFill>
                <a:latin typeface="Calibri"/>
              </a:rPr>
              <a:t>Evaluar impacto ambiental y social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C5F2D"/>
                </a:solidFill>
                <a:latin typeface="Calibri"/>
              </a:rPr>
              <a:t>8.  </a:t>
            </a:r>
            <a:r>
              <a:rPr sz="1500">
                <a:solidFill>
                  <a:srgbClr val="1A2A1E"/>
                </a:solidFill>
                <a:latin typeface="Calibri"/>
              </a:rPr>
              <a:t>Indicar leyes y normativas aplicables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C5F2D"/>
                </a:solidFill>
                <a:latin typeface="Calibri"/>
              </a:rPr>
              <a:t>9.  </a:t>
            </a:r>
            <a:r>
              <a:rPr sz="1500">
                <a:solidFill>
                  <a:srgbClr val="1A2A1E"/>
                </a:solidFill>
                <a:latin typeface="Calibri"/>
              </a:rPr>
              <a:t>Estimar costo unitario, precio de venta y factibilidad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89988"/>
                </a:solidFill>
                <a:latin typeface="Calibri"/>
              </a:defRPr>
            </a:pPr>
            <a:r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A3A2A"/>
                </a:solidFill>
                <a:latin typeface="Georgia"/>
              </a:defRPr>
            </a:pPr>
            <a:r>
              <a:t>Repelente Natural — Contexto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49377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2000"/>
              <a:t>🌍  </a:t>
            </a:r>
            <a:r>
              <a:rPr sz="1600" b="1">
                <a:solidFill>
                  <a:srgbClr val="2C5F2D"/>
                </a:solidFill>
                <a:latin typeface="Georgia"/>
              </a:rPr>
              <a:t>Cambio Global hacia lo Natural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3A4A3E"/>
                </a:solidFill>
                <a:latin typeface="Calibri"/>
              </a:rPr>
              <a:t>Creciente conciencia sobre el deterioro ambiental impulsa la búsqueda de alternativas sustentables.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49377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2000"/>
              <a:t>⚠️  </a:t>
            </a:r>
            <a:r>
              <a:rPr sz="1600" b="1">
                <a:solidFill>
                  <a:srgbClr val="2C5F2D"/>
                </a:solidFill>
                <a:latin typeface="Georgia"/>
              </a:rPr>
              <a:t>Riesgos de Repelentes Sintéticos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3A4A3E"/>
                </a:solidFill>
                <a:latin typeface="Calibri"/>
              </a:rPr>
              <a:t>Irritación cutánea y toxicidad asociada al uso prolongado de compuestos como DEET.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749040"/>
            <a:ext cx="49377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2000"/>
              <a:t>♻️  </a:t>
            </a:r>
            <a:r>
              <a:rPr sz="1600" b="1">
                <a:solidFill>
                  <a:srgbClr val="2C5F2D"/>
                </a:solidFill>
                <a:latin typeface="Georgia"/>
              </a:rPr>
              <a:t>Alternativa Sustentable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3A4A3E"/>
                </a:solidFill>
                <a:latin typeface="Calibri"/>
              </a:rPr>
              <a:t>Producto biodegradable elaborado con recursos renovables y bajo impacto ambiental.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49040"/>
            <a:ext cx="49377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2000"/>
              <a:t>🌿  </a:t>
            </a:r>
            <a:r>
              <a:rPr sz="1600" b="1">
                <a:solidFill>
                  <a:srgbClr val="2C5F2D"/>
                </a:solidFill>
                <a:latin typeface="Georgia"/>
              </a:rPr>
              <a:t>Potencial del Eucalipto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3A4A3E"/>
                </a:solidFill>
                <a:latin typeface="Calibri"/>
              </a:rPr>
              <a:t>Propiedades repelentes comprobadas gracias al aceite esencial rico en eucaliptol.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5F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79977"/>
                </a:solidFill>
                <a:latin typeface="Calibri"/>
              </a:defRPr>
            </a:pPr>
            <a:r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Georgia"/>
              </a:defRPr>
            </a:pPr>
            <a:r>
              <a:t>¿Por qué un Repelente Natural?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3200400" cy="2011680"/>
          </a:xfrm>
          <a:prstGeom prst="roundRect">
            <a:avLst/>
          </a:prstGeom>
          <a:solidFill>
            <a:srgbClr val="224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2000"/>
              <a:t>🦟  </a:t>
            </a:r>
            <a:r>
              <a:rPr sz="1600" b="1">
                <a:solidFill>
                  <a:srgbClr val="A8D5B0"/>
                </a:solidFill>
                <a:latin typeface="Georgia"/>
              </a:rPr>
              <a:t>Amenaza Sanitaria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BBCCBB"/>
                </a:solidFill>
                <a:latin typeface="Calibri"/>
              </a:rPr>
              <a:t>Los mosquitos transmiten dengue, malaria y zika. La protección es una necesidad de salud pública.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737360"/>
            <a:ext cx="3200400" cy="2011680"/>
          </a:xfrm>
          <a:prstGeom prst="roundRect">
            <a:avLst/>
          </a:prstGeom>
          <a:solidFill>
            <a:srgbClr val="224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2000"/>
              <a:t>🧬  </a:t>
            </a:r>
            <a:r>
              <a:rPr sz="1600" b="1">
                <a:solidFill>
                  <a:srgbClr val="A8D5B0"/>
                </a:solidFill>
                <a:latin typeface="Georgia"/>
              </a:rPr>
              <a:t>Compuestos Activos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BBCCBB"/>
                </a:solidFill>
                <a:latin typeface="Calibri"/>
              </a:rPr>
              <a:t>El aceite de eucalipto contiene eucamalol y 4-isopropilbencil alcohol con acción repelente demostrada.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3200400" cy="2011680"/>
          </a:xfrm>
          <a:prstGeom prst="roundRect">
            <a:avLst/>
          </a:prstGeom>
          <a:solidFill>
            <a:srgbClr val="224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2000"/>
              <a:t>🌱  </a:t>
            </a:r>
            <a:r>
              <a:rPr sz="1600" b="1">
                <a:solidFill>
                  <a:srgbClr val="A8D5B0"/>
                </a:solidFill>
                <a:latin typeface="Georgia"/>
              </a:rPr>
              <a:t>Biodegradable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BBCCBB"/>
                </a:solidFill>
                <a:latin typeface="Calibri"/>
              </a:rPr>
              <a:t>Los productos naturales se degradan sin acumularse en el ambiente, a diferencia de los sintéticos.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89988"/>
                </a:solidFill>
                <a:latin typeface="Calibri"/>
              </a:defRPr>
            </a:pPr>
            <a:r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A3A2A"/>
                </a:solidFill>
                <a:latin typeface="Georgia"/>
              </a:defRPr>
            </a:pPr>
            <a:r>
              <a:t>Tendencias Mundiales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9144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A2A1E"/>
                </a:solidFill>
                <a:latin typeface="Calibri"/>
              </a:defRPr>
            </a:pPr>
            <a:r>
              <a:t>Preocupación creciente por la salud y el bienestar</a:t>
            </a:r>
          </a:p>
          <a:p>
            <a:pPr>
              <a:spcAft>
                <a:spcPts val="600"/>
              </a:spcAft>
              <a:defRPr sz="1700">
                <a:solidFill>
                  <a:srgbClr val="1A2A1E"/>
                </a:solidFill>
                <a:latin typeface="Calibri"/>
              </a:defRPr>
            </a:pPr>
            <a:r>
              <a:t>Crecimiento sostenido del mercado de cosméticos naturales</a:t>
            </a:r>
          </a:p>
          <a:p>
            <a:pPr>
              <a:spcAft>
                <a:spcPts val="600"/>
              </a:spcAft>
              <a:defRPr sz="1700">
                <a:solidFill>
                  <a:srgbClr val="1A2A1E"/>
                </a:solidFill>
                <a:latin typeface="Calibri"/>
              </a:defRPr>
            </a:pPr>
            <a:r>
              <a:t>Mayor empleo de derivados de plantas medicinales y aromáticas</a:t>
            </a:r>
          </a:p>
          <a:p>
            <a:pPr>
              <a:spcAft>
                <a:spcPts val="600"/>
              </a:spcAft>
              <a:defRPr sz="1700">
                <a:solidFill>
                  <a:srgbClr val="1A2A1E"/>
                </a:solidFill>
                <a:latin typeface="Calibri"/>
              </a:defRPr>
            </a:pPr>
            <a:r>
              <a:t>Regulaciones gubernamentales a favor de productos naturales</a:t>
            </a:r>
          </a:p>
          <a:p>
            <a:pPr>
              <a:spcAft>
                <a:spcPts val="600"/>
              </a:spcAft>
              <a:defRPr sz="1700">
                <a:solidFill>
                  <a:srgbClr val="1A2A1E"/>
                </a:solidFill>
                <a:latin typeface="Calibri"/>
              </a:defRPr>
            </a:pPr>
            <a:r>
              <a:t>Demanda creciente de productos con bajo impacto toxicológico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116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 i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Georgia"/>
              </a:defRPr>
            </a:pPr>
            <a:r>
              <a:t>Estudio de Mercado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3749039"/>
            <a:ext cx="1554480" cy="2743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9319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99BB99"/>
                </a:solidFill>
                <a:latin typeface="Calibri"/>
              </a:defRPr>
            </a:pPr>
            <a:r>
              <a:t>Análisis de oferta, demanda y comercialización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5F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79977"/>
                </a:solidFill>
                <a:latin typeface="Calibri"/>
              </a:defRPr>
            </a:pPr>
            <a:r>
              <a:t>ESTUDIO DE MERCADO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Georgia"/>
              </a:defRPr>
            </a:pPr>
            <a:r>
              <a:t>Tendencias del Mercado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3200400" cy="1645920"/>
          </a:xfrm>
          <a:prstGeom prst="roundRect">
            <a:avLst/>
          </a:prstGeom>
          <a:solidFill>
            <a:srgbClr val="224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A8D5B0"/>
                </a:solidFill>
                <a:latin typeface="Georgia"/>
              </a:rPr>
              <a:t>USD 4.150 M</a:t>
            </a:r>
          </a:p>
          <a:p>
            <a:pPr algn="ctr"/>
            <a:r>
              <a:rPr sz="1000" b="1">
                <a:solidFill>
                  <a:srgbClr val="88AA88"/>
                </a:solidFill>
                <a:latin typeface="Calibri"/>
              </a:rPr>
              <a:t>Mercado mundial 2020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828800"/>
            <a:ext cx="3200400" cy="1645920"/>
          </a:xfrm>
          <a:prstGeom prst="roundRect">
            <a:avLst/>
          </a:prstGeom>
          <a:solidFill>
            <a:srgbClr val="224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A8D5B0"/>
                </a:solidFill>
                <a:latin typeface="Georgia"/>
              </a:rPr>
              <a:t>6,85%</a:t>
            </a:r>
          </a:p>
          <a:p>
            <a:pPr algn="ctr"/>
            <a:r>
              <a:rPr sz="1000" b="1">
                <a:solidFill>
                  <a:srgbClr val="88AA88"/>
                </a:solidFill>
                <a:latin typeface="Calibri"/>
              </a:rPr>
              <a:t>CAGR 2021–2026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200400" cy="1645920"/>
          </a:xfrm>
          <a:prstGeom prst="roundRect">
            <a:avLst/>
          </a:prstGeom>
          <a:solidFill>
            <a:srgbClr val="224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A8D5B0"/>
                </a:solidFill>
                <a:latin typeface="Georgia"/>
              </a:rPr>
              <a:t>+Info</a:t>
            </a:r>
          </a:p>
          <a:p>
            <a:pPr algn="ctr"/>
            <a:r>
              <a:rPr sz="1000" b="1">
                <a:solidFill>
                  <a:srgbClr val="88AA88"/>
                </a:solidFill>
                <a:latin typeface="Calibri"/>
              </a:rPr>
              <a:t>Consumidores informados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89988"/>
                </a:solidFill>
                <a:latin typeface="Calibri"/>
              </a:defRPr>
            </a:pPr>
            <a:r>
              <a:t>ESTUDIO DE MERCADO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A3A2A"/>
                </a:solidFill>
                <a:latin typeface="Georgia"/>
              </a:defRPr>
            </a:pPr>
            <a:r>
              <a:t>Natural vs Sintético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737360"/>
          <a:ext cx="100584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Característica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🌿 Natural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🧪 Sintético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Origen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Vegetal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Químico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Duración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Menor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Mayor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Efectividad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Media–Alta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Alta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Riesgo para la salud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Bajo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Puede causar irritación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Impacto ambiental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Biodegradable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Persistente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Costo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Competitivo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Variable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5F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79977"/>
                </a:solidFill>
                <a:latin typeface="Calibri"/>
              </a:defRPr>
            </a:pPr>
            <a:r>
              <a:t>ESTUDIO DE MERCADO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Georgia"/>
              </a:defRPr>
            </a:pPr>
            <a:r>
              <a:t>Proyección de la Demanda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A8D5B0"/>
                </a:solidFill>
                <a:latin typeface="Georgia"/>
              </a:defRPr>
            </a:pPr>
            <a:r>
              <a:t>Datos de Demanda (miles de L)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011680"/>
          <a:ext cx="50292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Año</a:t>
                      </a:r>
                    </a:p>
                  </a:txBody>
                  <a:tcPr>
                    <a:solidFill>
                      <a:srgbClr val="2244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Optimista</a:t>
                      </a:r>
                    </a:p>
                  </a:txBody>
                  <a:tcPr>
                    <a:solidFill>
                      <a:srgbClr val="2244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Pesimista</a:t>
                      </a:r>
                    </a:p>
                  </a:txBody>
                  <a:tcPr>
                    <a:solidFill>
                      <a:srgbClr val="2244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91,85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72,16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100,39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80,69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108,93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89,23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117,46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97,76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125,99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106,30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5029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79977"/>
                </a:solidFill>
                <a:latin typeface="Calibri"/>
              </a:defRPr>
            </a:pPr>
            <a:r>
              <a:t>Fuente: INDEC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89988"/>
                </a:solidFill>
                <a:latin typeface="Calibri"/>
              </a:defRPr>
            </a:pPr>
            <a:r>
              <a:t>ESTUDIO DE MERCADO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A3A2A"/>
                </a:solidFill>
                <a:latin typeface="Georgia"/>
              </a:defRPr>
            </a:pPr>
            <a:r>
              <a:t>Proyección de la Oferta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737360"/>
          <a:ext cx="100584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Año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Optimista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Pesimista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534,70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408,84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582,81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456,95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630,92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505,07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679,03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553,18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727,15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601,29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5F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79977"/>
                </a:solidFill>
                <a:latin typeface="Calibri"/>
              </a:defRPr>
            </a:pPr>
            <a:r>
              <a:t>ESTUDIO DE MERCADO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Georgia"/>
              </a:defRPr>
            </a:pPr>
            <a:r>
              <a:t>Cuantificación DPI y Producción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3200400" cy="1645920"/>
          </a:xfrm>
          <a:prstGeom prst="roundRect">
            <a:avLst/>
          </a:prstGeom>
          <a:solidFill>
            <a:srgbClr val="224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A8D5B0"/>
                </a:solidFill>
                <a:latin typeface="Georgia"/>
              </a:rPr>
              <a:t>148.500</a:t>
            </a:r>
          </a:p>
          <a:p>
            <a:pPr algn="ctr"/>
            <a:r>
              <a:rPr sz="1000" b="1">
                <a:solidFill>
                  <a:srgbClr val="88AA88"/>
                </a:solidFill>
                <a:latin typeface="Calibri"/>
              </a:rPr>
              <a:t>Botellas / año (100 mL)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286000"/>
            <a:ext cx="3200400" cy="1645920"/>
          </a:xfrm>
          <a:prstGeom prst="roundRect">
            <a:avLst/>
          </a:prstGeom>
          <a:solidFill>
            <a:srgbClr val="224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A8D5B0"/>
                </a:solidFill>
                <a:latin typeface="Georgia"/>
              </a:rPr>
              <a:t>495</a:t>
            </a:r>
          </a:p>
          <a:p>
            <a:pPr algn="ctr"/>
            <a:r>
              <a:rPr sz="1000" b="1">
                <a:solidFill>
                  <a:srgbClr val="88AA88"/>
                </a:solidFill>
                <a:latin typeface="Calibri"/>
              </a:rPr>
              <a:t>Botellas / día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286000"/>
            <a:ext cx="3200400" cy="1645920"/>
          </a:xfrm>
          <a:prstGeom prst="roundRect">
            <a:avLst/>
          </a:prstGeom>
          <a:solidFill>
            <a:srgbClr val="224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A8D5B0"/>
                </a:solidFill>
                <a:latin typeface="Georgia"/>
              </a:rPr>
              <a:t>2 × 8h</a:t>
            </a:r>
          </a:p>
          <a:p>
            <a:pPr algn="ctr"/>
            <a:r>
              <a:rPr sz="1000" b="1">
                <a:solidFill>
                  <a:srgbClr val="88AA88"/>
                </a:solidFill>
                <a:latin typeface="Calibri"/>
              </a:rPr>
              <a:t>Turnos de trabajo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A8D5B0"/>
                </a:solidFill>
                <a:latin typeface="Calibri"/>
              </a:defRPr>
            </a:pPr>
            <a:r>
              <a:t>DPI promedio: 99 mil L/año  →  Absorción: 15%  →  Producción: 49,50 L/día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89988"/>
                </a:solidFill>
                <a:latin typeface="Calibri"/>
              </a:defRPr>
            </a:pPr>
            <a:r>
              <a:t>ESTUDIO DE MERCADO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A3A2A"/>
                </a:solidFill>
                <a:latin typeface="Georgia"/>
              </a:defRPr>
            </a:pPr>
            <a:r>
              <a:t>Precios y Comercialización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737360"/>
          <a:ext cx="45720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Marca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Precio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Exilet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$3.861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Just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$3.500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$2.143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Farmacity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$1.230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2C5F2D"/>
                </a:solidFill>
                <a:latin typeface="Georgia"/>
              </a:defRPr>
            </a:pPr>
            <a:r>
              <a:t>Canales de Distribución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2A1E"/>
                </a:solidFill>
                <a:latin typeface="Calibri"/>
              </a:defRPr>
            </a:pPr>
            <a:r>
              <a:t>Venta al por mayor</a:t>
            </a:r>
          </a:p>
          <a:p>
            <a:pPr>
              <a:spcAft>
                <a:spcPts val="600"/>
              </a:spcAft>
              <a:defRPr sz="1500">
                <a:solidFill>
                  <a:srgbClr val="1A2A1E"/>
                </a:solidFill>
                <a:latin typeface="Calibri"/>
              </a:defRPr>
            </a:pPr>
            <a:r>
              <a:t>Distribución intensiva</a:t>
            </a:r>
          </a:p>
          <a:p>
            <a:pPr>
              <a:spcAft>
                <a:spcPts val="600"/>
              </a:spcAft>
              <a:defRPr sz="1500">
                <a:solidFill>
                  <a:srgbClr val="1A2A1E"/>
                </a:solidFill>
                <a:latin typeface="Calibri"/>
              </a:defRPr>
            </a:pPr>
            <a:r>
              <a:t>Agentes comerciales</a:t>
            </a:r>
          </a:p>
          <a:p>
            <a:pPr>
              <a:spcAft>
                <a:spcPts val="600"/>
              </a:spcAft>
              <a:defRPr sz="1500">
                <a:solidFill>
                  <a:srgbClr val="1A2A1E"/>
                </a:solidFill>
                <a:latin typeface="Calibri"/>
              </a:defRPr>
            </a:pPr>
            <a:r>
              <a:t>E-commerce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2C5F2D"/>
                </a:solidFill>
                <a:latin typeface="Georgia"/>
              </a:defRPr>
            </a:pPr>
            <a:r>
              <a:t>Estrategia de Lanzamiento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114800"/>
            <a:ext cx="4572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2A1E"/>
                </a:solidFill>
                <a:latin typeface="Calibri"/>
              </a:defRPr>
            </a:pPr>
            <a:r>
              <a:t>Soft launch en Santa Fe</a:t>
            </a:r>
          </a:p>
          <a:p>
            <a:pPr>
              <a:spcAft>
                <a:spcPts val="600"/>
              </a:spcAft>
              <a:defRPr sz="1500">
                <a:solidFill>
                  <a:srgbClr val="1A2A1E"/>
                </a:solidFill>
                <a:latin typeface="Calibri"/>
              </a:defRPr>
            </a:pPr>
            <a:r>
              <a:t>Redes sociales y marketing digital</a:t>
            </a:r>
          </a:p>
          <a:p>
            <a:pPr>
              <a:spcAft>
                <a:spcPts val="600"/>
              </a:spcAft>
              <a:defRPr sz="1500">
                <a:solidFill>
                  <a:srgbClr val="1A2A1E"/>
                </a:solidFill>
                <a:latin typeface="Calibri"/>
              </a:defRPr>
            </a:pPr>
            <a:r>
              <a:t>Precios promocionales iniciales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389120"/>
            <a:ext cx="4572000" cy="73152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Precio promedio fábrica: $1.878,45/envase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116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 i="0">
                <a:solidFill>
                  <a:srgbClr val="FFFFFF"/>
                </a:solidFill>
                <a:latin typeface="Calibri"/>
              </a:defRPr>
            </a:pPr>
            <a:r>
              <a:t>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Georgia"/>
              </a:defRPr>
            </a:pPr>
            <a:r>
              <a:t>Materias Primas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3749039"/>
            <a:ext cx="1554480" cy="2743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9319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99BB99"/>
                </a:solidFill>
                <a:latin typeface="Calibri"/>
              </a:defRPr>
            </a:pPr>
            <a:r>
              <a:t>Eucalipto, solventes y aditivos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89988"/>
                </a:solidFill>
                <a:latin typeface="Calibri"/>
              </a:defRPr>
            </a:pPr>
            <a:r>
              <a:t>MATERIAS PRIMAS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A3A2A"/>
                </a:solidFill>
                <a:latin typeface="Georgia"/>
              </a:defRPr>
            </a:pPr>
            <a:r>
              <a:t>Eucalipto Camaldulensis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50292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2A1E"/>
                </a:solidFill>
                <a:latin typeface="Calibri"/>
              </a:defRPr>
            </a:pPr>
            <a:r>
              <a:t>Árbol de gran porte, hasta 30 m de altura</a:t>
            </a:r>
          </a:p>
          <a:p>
            <a:pPr>
              <a:spcAft>
                <a:spcPts val="600"/>
              </a:spcAft>
              <a:defRPr sz="1500">
                <a:solidFill>
                  <a:srgbClr val="1A2A1E"/>
                </a:solidFill>
                <a:latin typeface="Calibri"/>
              </a:defRPr>
            </a:pPr>
            <a:r>
              <a:t>Corteza lisa, grisácea; copa extendida con ramas péndulas</a:t>
            </a:r>
          </a:p>
          <a:p>
            <a:pPr>
              <a:spcAft>
                <a:spcPts val="600"/>
              </a:spcAft>
              <a:defRPr sz="1500">
                <a:solidFill>
                  <a:srgbClr val="1A2A1E"/>
                </a:solidFill>
                <a:latin typeface="Calibri"/>
              </a:defRPr>
            </a:pPr>
            <a:r>
              <a:t>Hojas de 25 cm × 4 cm con cavidades de aceites esenciales</a:t>
            </a:r>
          </a:p>
          <a:p>
            <a:pPr>
              <a:spcAft>
                <a:spcPts val="600"/>
              </a:spcAft>
              <a:defRPr sz="1500">
                <a:solidFill>
                  <a:srgbClr val="1A2A1E"/>
                </a:solidFill>
                <a:latin typeface="Calibri"/>
              </a:defRPr>
            </a:pPr>
            <a:r>
              <a:t>Extendido en Buenos Aires, Santa Fe, Jujuy</a:t>
            </a:r>
          </a:p>
          <a:p>
            <a:pPr>
              <a:spcAft>
                <a:spcPts val="600"/>
              </a:spcAft>
              <a:defRPr sz="1500">
                <a:solidFill>
                  <a:srgbClr val="1A2A1E"/>
                </a:solidFill>
                <a:latin typeface="Calibri"/>
              </a:defRPr>
            </a:pPr>
            <a:r>
              <a:t>Especie seleccionada por su disponibilidad regional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0" y="1737360"/>
          <a:ext cx="4114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Clasificación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2C5F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Reino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Plantae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División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Magnoliophyta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Familia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Myrtaceae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Género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Eucalyptus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Especie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E. camaldulensis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5F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79977"/>
                </a:solidFill>
                <a:latin typeface="Calibri"/>
              </a:defRPr>
            </a:pPr>
            <a:r>
              <a:t>MATERIAS PRIMAS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Georgia"/>
              </a:defRPr>
            </a:pPr>
            <a:r>
              <a:t>Composición del Aceite Esencial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011680"/>
          <a:ext cx="4572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Propiedad</a:t>
                      </a:r>
                    </a:p>
                  </a:txBody>
                  <a:tcPr>
                    <a:solidFill>
                      <a:srgbClr val="2244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Valor</a:t>
                      </a:r>
                    </a:p>
                  </a:txBody>
                  <a:tcPr>
                    <a:solidFill>
                      <a:srgbClr val="2244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Fórmula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C₁₀H₁₈O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Masa molar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154,25 g/mol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Densidad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0,92 g/cm³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P. ebullición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176,50 °C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Rendimiento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2,15%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A8D5B0"/>
                </a:solidFill>
                <a:latin typeface="Georgia"/>
              </a:defRPr>
            </a:pPr>
            <a:r>
              <a:t>Otros Componentes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AACCAA"/>
                </a:solidFill>
                <a:latin typeface="Calibri"/>
              </a:defRPr>
            </a:pPr>
            <a:r>
              <a:t>α-pineno  ·  Limoneno  ·  Terpineol  ·  Flavonoides  ·  Taninos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200400"/>
            <a:ext cx="4572000" cy="1097280"/>
          </a:xfrm>
          <a:prstGeom prst="roundRect">
            <a:avLst/>
          </a:prstGeom>
          <a:solidFill>
            <a:srgbClr val="1F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Método de extracción: </a:t>
            </a:r>
            <a:r>
              <a:rPr sz="1300">
                <a:solidFill>
                  <a:srgbClr val="AABBAA"/>
                </a:solidFill>
              </a:rPr>
              <a:t>Lixiviación con etanol
Rendimiento superior (3%) frente a destilación por arrastre.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89988"/>
                </a:solidFill>
                <a:latin typeface="Calibri"/>
              </a:defRPr>
            </a:pPr>
            <a:r>
              <a:t>MATERIAS PRIMAS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A3A2A"/>
                </a:solidFill>
                <a:latin typeface="Georgia"/>
              </a:defRPr>
            </a:pPr>
            <a:r>
              <a:t>Solventes: Etanol e Isopropanol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49377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2000"/>
              <a:t>🧪  </a:t>
            </a:r>
            <a:r>
              <a:rPr sz="1600" b="1">
                <a:solidFill>
                  <a:srgbClr val="2C5F2D"/>
                </a:solidFill>
                <a:latin typeface="Georgia"/>
              </a:rPr>
              <a:t>Etanol 96%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3A4A3E"/>
                </a:solidFill>
                <a:latin typeface="Calibri"/>
              </a:rPr>
              <a:t>Solvente principal para extracción. Alta volatilidad, secado rápido.
Densidad: 797 kg/m³. Obtenido por fermentación.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49377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2000"/>
              <a:t>⚗️  </a:t>
            </a:r>
            <a:r>
              <a:rPr sz="1600" b="1">
                <a:solidFill>
                  <a:srgbClr val="2C5F2D"/>
                </a:solidFill>
                <a:latin typeface="Georgia"/>
              </a:rPr>
              <a:t>Isopropanol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3A4A3E"/>
                </a:solidFill>
                <a:latin typeface="Calibri"/>
              </a:rPr>
              <a:t>Co-solvente. Densidad: 0,80 g/cm³. P. ebullición: 82 °C.
Vehículo del repelente, diluye el aceite esencial.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5F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79977"/>
                </a:solidFill>
                <a:latin typeface="Calibri"/>
              </a:defRPr>
            </a:pPr>
            <a:r>
              <a:t>MATERIAS PRIMAS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Georgia"/>
              </a:defRPr>
            </a:pPr>
            <a:r>
              <a:t>Agua Destilada y Glicerina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4937760" cy="2560320"/>
          </a:xfrm>
          <a:prstGeom prst="roundRect">
            <a:avLst/>
          </a:prstGeom>
          <a:solidFill>
            <a:srgbClr val="224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2000"/>
              <a:t>💧  </a:t>
            </a:r>
            <a:r>
              <a:rPr sz="1600" b="1">
                <a:solidFill>
                  <a:srgbClr val="A8D5B0"/>
                </a:solidFill>
                <a:latin typeface="Georgia"/>
              </a:rPr>
              <a:t>Agua Destilada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BBCCBB"/>
                </a:solidFill>
                <a:latin typeface="Calibri"/>
              </a:rPr>
              <a:t>Libre de contaminantes. Líquido transparente, incoloro, inodoro.
Contenido orgánico total &lt; 0,50 mg/L.
Se emplea para preparar solución de isopropanol.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4937760" cy="2560320"/>
          </a:xfrm>
          <a:prstGeom prst="roundRect">
            <a:avLst/>
          </a:prstGeom>
          <a:solidFill>
            <a:srgbClr val="224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2000"/>
              <a:t>🫧  </a:t>
            </a:r>
            <a:r>
              <a:rPr sz="1600" b="1">
                <a:solidFill>
                  <a:srgbClr val="A8D5B0"/>
                </a:solidFill>
                <a:latin typeface="Georgia"/>
              </a:rPr>
              <a:t>Glicerina (1,2,3-Propanotriol)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BBCCBB"/>
                </a:solidFill>
                <a:latin typeface="Calibri"/>
              </a:rPr>
              <a:t>Contenido ≥ 99% de C₃H₈O₃.
Humectante: reduce deshidratación de la piel.
Mejora textura y sensación de aplicación.
Miscible con agua y alcohol.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89988"/>
                </a:solidFill>
                <a:latin typeface="Calibri"/>
              </a:defRPr>
            </a:pPr>
            <a:r>
              <a:t>PRODUCTO ELABORADO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A3A2A"/>
                </a:solidFill>
                <a:latin typeface="Georgia"/>
              </a:defRPr>
            </a:pPr>
            <a:r>
              <a:t>Características del Producto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2C5F2D"/>
                </a:solidFill>
                <a:latin typeface="Georgia"/>
              </a:defRPr>
            </a:pPr>
            <a:r>
              <a:t>Propiedades Fisicoquímicas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011680"/>
          <a:ext cx="45720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Parámetro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Valor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Densidad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0,92 g/cm³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Viscosidad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0,002 Pa·s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Saturación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20%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4,50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2C5F2D"/>
                </a:solidFill>
                <a:latin typeface="Georgia"/>
              </a:defRPr>
            </a:pPr>
            <a:r>
              <a:t>Propiedades Organolépticas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2011680"/>
          <a:ext cx="45720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Parámetro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Valor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Estado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Líquido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Color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Verde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Eucalipto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Turbidez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Sin turbidez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5F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79977"/>
                </a:solidFill>
                <a:latin typeface="Calibri"/>
              </a:defRPr>
            </a:pPr>
            <a:r>
              <a:t>PRODUCTO ELABORADO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Georgia"/>
              </a:defRPr>
            </a:pPr>
            <a:r>
              <a:t>Envase y Rotulación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828800"/>
          <a:ext cx="4572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Propiedad</a:t>
                      </a:r>
                    </a:p>
                  </a:txBody>
                  <a:tcPr>
                    <a:solidFill>
                      <a:srgbClr val="2244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Detalle</a:t>
                      </a:r>
                    </a:p>
                  </a:txBody>
                  <a:tcPr>
                    <a:solidFill>
                      <a:srgbClr val="2244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PET virgen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Capacidad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100 mL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Atomizador spray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Reciclable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Sí — SPI ♻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Rotulación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Según ANMAT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A8D5B0"/>
                </a:solidFill>
                <a:latin typeface="Georgia"/>
              </a:defRPr>
            </a:pPr>
            <a:r>
              <a:t>Embalaje y Distribución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4754880" cy="1097280"/>
          </a:xfrm>
          <a:prstGeom prst="roundRect">
            <a:avLst/>
          </a:prstGeom>
          <a:solidFill>
            <a:srgbClr val="224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2000"/>
              <a:t>🧴  </a:t>
            </a:r>
            <a:r>
              <a:rPr sz="1600" b="1">
                <a:solidFill>
                  <a:srgbClr val="A8D5B0"/>
                </a:solidFill>
                <a:latin typeface="Georgia"/>
              </a:rPr>
              <a:t>Botella 100 mL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AABBAA"/>
                </a:solidFill>
                <a:latin typeface="Calibri"/>
              </a:rPr>
              <a:t>Envase primario con atomizador spray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383280"/>
            <a:ext cx="4754880" cy="1097280"/>
          </a:xfrm>
          <a:prstGeom prst="roundRect">
            <a:avLst/>
          </a:prstGeom>
          <a:solidFill>
            <a:srgbClr val="224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2000"/>
              <a:t>📦  </a:t>
            </a:r>
            <a:r>
              <a:rPr sz="1600" b="1">
                <a:solidFill>
                  <a:srgbClr val="A8D5B0"/>
                </a:solidFill>
                <a:latin typeface="Georgia"/>
              </a:rPr>
              <a:t>Caja Cartón Corrugado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AABBAA"/>
                </a:solidFill>
                <a:latin typeface="Calibri"/>
              </a:rPr>
              <a:t>Embalaje secundario para agrupación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754880"/>
            <a:ext cx="4754880" cy="1097280"/>
          </a:xfrm>
          <a:prstGeom prst="roundRect">
            <a:avLst/>
          </a:prstGeom>
          <a:solidFill>
            <a:srgbClr val="224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2000"/>
              <a:t>🏗️  </a:t>
            </a:r>
            <a:r>
              <a:rPr sz="1600" b="1">
                <a:solidFill>
                  <a:srgbClr val="A8D5B0"/>
                </a:solidFill>
                <a:latin typeface="Georgia"/>
              </a:rPr>
              <a:t>Pallet Retornable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AABBAA"/>
                </a:solidFill>
                <a:latin typeface="Calibri"/>
              </a:rPr>
              <a:t>Plástico reutilizable + film stretch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116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 i="0">
                <a:solidFill>
                  <a:srgbClr val="FFFFFF"/>
                </a:solidFill>
                <a:latin typeface="Calibri"/>
              </a:defRPr>
            </a:pPr>
            <a:r>
              <a:t>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Georgia"/>
              </a:defRPr>
            </a:pPr>
            <a:r>
              <a:t>Localización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3749039"/>
            <a:ext cx="1554480" cy="2743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9319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99BB99"/>
                </a:solidFill>
                <a:latin typeface="Calibri"/>
              </a:defRPr>
            </a:pPr>
            <a:r>
              <a:t>Selección macro y micro de la planta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89988"/>
                </a:solidFill>
                <a:latin typeface="Calibri"/>
              </a:defRPr>
            </a:pPr>
            <a:r>
              <a:t>LOCALIZACIÓN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A3A2A"/>
                </a:solidFill>
                <a:latin typeface="Georgia"/>
              </a:defRPr>
            </a:pPr>
            <a:r>
              <a:t>Macrolocalización: Santa Fe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737360"/>
          <a:ext cx="6400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Factor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Santa Fe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Buenos Aires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Materia prima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Alta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Media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Mano de obra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Disponible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Disponible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Transporte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RN 11, RN 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Saturado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Parques industriales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Disponibles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Saturados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Energía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Disponible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Disponible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14400" y="4572000"/>
            <a:ext cx="6400800" cy="91440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 Santa Fe seleccionada
</a:t>
            </a:r>
            <a:r>
              <a:rPr sz="1200">
                <a:solidFill>
                  <a:srgbClr val="CCDDCC"/>
                </a:solidFill>
              </a:rPr>
              <a:t>Producción local de eucalipto, infraestructura vial (RN 11, RN 19), 2 aeropuertos, parques industriales activos.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5F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79977"/>
                </a:solidFill>
                <a:latin typeface="Calibri"/>
              </a:defRPr>
            </a:pPr>
            <a:r>
              <a:t>LOCALIZACIÓN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Georgia"/>
              </a:defRPr>
            </a:pPr>
            <a:r>
              <a:t>Microlocalización: Sauce Viejo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5029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DDCC"/>
                </a:solidFill>
                <a:latin typeface="Calibri"/>
              </a:defRPr>
            </a:pPr>
            <a:r>
              <a:t>Proveedor: Forestal Sauce Viejo S.A. (hojas como residuo maderero)</a:t>
            </a:r>
          </a:p>
          <a:p>
            <a:pPr>
              <a:spcAft>
                <a:spcPts val="600"/>
              </a:spcAft>
              <a:defRPr sz="1500">
                <a:solidFill>
                  <a:srgbClr val="CCDDCC"/>
                </a:solidFill>
                <a:latin typeface="Calibri"/>
              </a:defRPr>
            </a:pPr>
            <a:r>
              <a:t>22 km de Santa Fe capital</a:t>
            </a:r>
          </a:p>
          <a:p>
            <a:pPr>
              <a:spcAft>
                <a:spcPts val="600"/>
              </a:spcAft>
              <a:defRPr sz="1500">
                <a:solidFill>
                  <a:srgbClr val="CCDDCC"/>
                </a:solidFill>
                <a:latin typeface="Calibri"/>
              </a:defRPr>
            </a:pPr>
            <a:r>
              <a:t>Parque Industrial con accesos pavimentados</a:t>
            </a:r>
          </a:p>
          <a:p>
            <a:pPr>
              <a:spcAft>
                <a:spcPts val="600"/>
              </a:spcAft>
              <a:defRPr sz="1500">
                <a:solidFill>
                  <a:srgbClr val="CCDDCC"/>
                </a:solidFill>
                <a:latin typeface="Calibri"/>
              </a:defRPr>
            </a:pPr>
            <a:r>
              <a:t>Central eléctrica 280 MW</a:t>
            </a:r>
          </a:p>
          <a:p>
            <a:pPr>
              <a:spcAft>
                <a:spcPts val="600"/>
              </a:spcAft>
              <a:defRPr sz="1500">
                <a:solidFill>
                  <a:srgbClr val="CCDDCC"/>
                </a:solidFill>
                <a:latin typeface="Calibri"/>
              </a:defRPr>
            </a:pPr>
            <a:r>
              <a:t>Servicios de Aguas Santafesinas</a:t>
            </a:r>
          </a:p>
          <a:p>
            <a:pPr>
              <a:spcAft>
                <a:spcPts val="600"/>
              </a:spcAft>
              <a:defRPr sz="1500">
                <a:solidFill>
                  <a:srgbClr val="CCDDCC"/>
                </a:solidFill>
                <a:latin typeface="Calibri"/>
              </a:defRPr>
            </a:pPr>
            <a:r>
              <a:t>Población: ~17.000 hab. — RN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737360"/>
            <a:ext cx="2286000" cy="1463040"/>
          </a:xfrm>
          <a:prstGeom prst="roundRect">
            <a:avLst/>
          </a:prstGeom>
          <a:solidFill>
            <a:srgbClr val="224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A8D5B0"/>
                </a:solidFill>
                <a:latin typeface="Georgia"/>
              </a:rPr>
              <a:t>22 km</a:t>
            </a:r>
          </a:p>
          <a:p>
            <a:pPr algn="ctr"/>
            <a:r>
              <a:rPr sz="1000" b="1">
                <a:solidFill>
                  <a:srgbClr val="88AA88"/>
                </a:solidFill>
                <a:latin typeface="Calibri"/>
              </a:rPr>
              <a:t>de Santa Fe capital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0" y="1737360"/>
            <a:ext cx="2286000" cy="1463040"/>
          </a:xfrm>
          <a:prstGeom prst="roundRect">
            <a:avLst/>
          </a:prstGeom>
          <a:solidFill>
            <a:srgbClr val="224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A8D5B0"/>
                </a:solidFill>
                <a:latin typeface="Georgia"/>
              </a:rPr>
              <a:t>280 MW</a:t>
            </a:r>
          </a:p>
          <a:p>
            <a:pPr algn="ctr"/>
            <a:r>
              <a:rPr sz="1000" b="1">
                <a:solidFill>
                  <a:srgbClr val="88AA88"/>
                </a:solidFill>
                <a:latin typeface="Calibri"/>
              </a:rPr>
              <a:t>Central eléctrica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3566160"/>
            <a:ext cx="2286000" cy="1463040"/>
          </a:xfrm>
          <a:prstGeom prst="roundRect">
            <a:avLst/>
          </a:prstGeom>
          <a:solidFill>
            <a:srgbClr val="224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A8D5B0"/>
                </a:solidFill>
                <a:latin typeface="Georgia"/>
              </a:rPr>
              <a:t>17.000</a:t>
            </a:r>
          </a:p>
          <a:p>
            <a:pPr algn="ctr"/>
            <a:r>
              <a:rPr sz="1000" b="1">
                <a:solidFill>
                  <a:srgbClr val="88AA88"/>
                </a:solidFill>
                <a:latin typeface="Calibri"/>
              </a:rPr>
              <a:t>Habitantes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3566160"/>
            <a:ext cx="2286000" cy="1463040"/>
          </a:xfrm>
          <a:prstGeom prst="roundRect">
            <a:avLst/>
          </a:prstGeom>
          <a:solidFill>
            <a:srgbClr val="224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A8D5B0"/>
                </a:solidFill>
                <a:latin typeface="Georgia"/>
              </a:rPr>
              <a:t>RN 11</a:t>
            </a:r>
          </a:p>
          <a:p>
            <a:pPr algn="ctr"/>
            <a:r>
              <a:rPr sz="1000" b="1">
                <a:solidFill>
                  <a:srgbClr val="88AA88"/>
                </a:solidFill>
                <a:latin typeface="Calibri"/>
              </a:rPr>
              <a:t>Ruta Nacional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116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 i="0">
                <a:solidFill>
                  <a:srgbClr val="FFFFFF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Georgia"/>
              </a:defRPr>
            </a:pPr>
            <a:r>
              <a:t>Proceso Productivo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3749039"/>
            <a:ext cx="1554480" cy="2743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9319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99BB99"/>
                </a:solidFill>
                <a:latin typeface="Calibri"/>
              </a:defRPr>
            </a:pPr>
            <a:r>
              <a:t>9 etapas de producción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89988"/>
                </a:solidFill>
                <a:latin typeface="Calibri"/>
              </a:defRPr>
            </a:pPr>
            <a:r>
              <a:t>PROCESO PRODUCTIVO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A3A2A"/>
                </a:solidFill>
                <a:latin typeface="Georgia"/>
              </a:defRPr>
            </a:pPr>
            <a:r>
              <a:t>Métodos de Obtención del Aceite Esencial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32004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2000"/>
              <a:t>♨️  </a:t>
            </a:r>
            <a:r>
              <a:rPr sz="1600" b="1">
                <a:solidFill>
                  <a:srgbClr val="2C5F2D"/>
                </a:solidFill>
                <a:latin typeface="Georgia"/>
              </a:rPr>
              <a:t>A. Destilación por arrastre con vapor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3A4A3E"/>
                </a:solidFill>
                <a:latin typeface="Calibri"/>
              </a:rPr>
              <a:t>El vapor arrastra aceite volátil. Método tradicional, rendimiento moderado.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737360"/>
            <a:ext cx="32004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2000"/>
              <a:t>🔧  </a:t>
            </a:r>
            <a:r>
              <a:rPr sz="1600" b="1">
                <a:solidFill>
                  <a:srgbClr val="2C5F2D"/>
                </a:solidFill>
                <a:latin typeface="Georgia"/>
              </a:rPr>
              <a:t>B. Extracción por prensado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3A4A3E"/>
                </a:solidFill>
                <a:latin typeface="Calibri"/>
              </a:rPr>
              <a:t>Presión mecánica sobre el material vegetal. Bajo rendimiento.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32004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2000"/>
              <a:t>✅  </a:t>
            </a:r>
            <a:r>
              <a:rPr sz="1600" b="1">
                <a:solidFill>
                  <a:srgbClr val="2C5F2D"/>
                </a:solidFill>
                <a:latin typeface="Georgia"/>
              </a:rPr>
              <a:t>C. Extracción con solventes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3A4A3E"/>
                </a:solidFill>
                <a:latin typeface="Calibri"/>
              </a:rPr>
              <a:t>Etanol disuelve el aceite. Mayor rendimiento (3%). Método elegido: lixiviación + arrastre con vapor.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5F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79977"/>
                </a:solidFill>
                <a:latin typeface="Calibri"/>
              </a:defRPr>
            </a:pPr>
            <a:r>
              <a:t>PROCESO PRODUCTIVO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Georgia"/>
              </a:defRPr>
            </a:pPr>
            <a:r>
              <a:t>Etapas del Proceso — Flujo Completo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011680" cy="1280160"/>
          </a:xfrm>
          <a:prstGeom prst="roundRect">
            <a:avLst/>
          </a:prstGeom>
          <a:solidFill>
            <a:srgbClr val="224433"/>
          </a:solidFill>
          <a:ln w="12700">
            <a:solidFill>
              <a:srgbClr val="446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1. Recepción y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194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A8D5B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828800"/>
            <a:ext cx="2011680" cy="1280160"/>
          </a:xfrm>
          <a:prstGeom prst="roundRect">
            <a:avLst/>
          </a:prstGeom>
          <a:solidFill>
            <a:srgbClr val="224433"/>
          </a:solidFill>
          <a:ln w="12700">
            <a:solidFill>
              <a:srgbClr val="446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2. Separación manual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194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A8D5B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828800"/>
            <a:ext cx="2011680" cy="1280160"/>
          </a:xfrm>
          <a:prstGeom prst="roundRect">
            <a:avLst/>
          </a:prstGeom>
          <a:solidFill>
            <a:srgbClr val="224433"/>
          </a:solidFill>
          <a:ln w="12700">
            <a:solidFill>
              <a:srgbClr val="446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3. Lixiviación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194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A8D5B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828800"/>
            <a:ext cx="2011680" cy="1280160"/>
          </a:xfrm>
          <a:prstGeom prst="roundRect">
            <a:avLst/>
          </a:prstGeom>
          <a:solidFill>
            <a:srgbClr val="224433"/>
          </a:solidFill>
          <a:ln w="12700">
            <a:solidFill>
              <a:srgbClr val="446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4. Arrastre con vapor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2194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A8D5B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1828800"/>
            <a:ext cx="2011680" cy="1280160"/>
          </a:xfrm>
          <a:prstGeom prst="roundRect">
            <a:avLst/>
          </a:prstGeom>
          <a:solidFill>
            <a:srgbClr val="224433"/>
          </a:solidFill>
          <a:ln w="12700">
            <a:solidFill>
              <a:srgbClr val="446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5. Condensación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40480"/>
            <a:ext cx="2011680" cy="1280160"/>
          </a:xfrm>
          <a:prstGeom prst="roundRect">
            <a:avLst/>
          </a:prstGeom>
          <a:solidFill>
            <a:srgbClr val="224433"/>
          </a:solidFill>
          <a:ln w="12700">
            <a:solidFill>
              <a:srgbClr val="446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6. Decantación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4206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A8D5B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3840480"/>
            <a:ext cx="2011680" cy="1280160"/>
          </a:xfrm>
          <a:prstGeom prst="roundRect">
            <a:avLst/>
          </a:prstGeom>
          <a:solidFill>
            <a:srgbClr val="224433"/>
          </a:solidFill>
          <a:ln w="12700">
            <a:solidFill>
              <a:srgbClr val="446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7. Mezclado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206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A8D5B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3840480"/>
            <a:ext cx="2011680" cy="1280160"/>
          </a:xfrm>
          <a:prstGeom prst="roundRect">
            <a:avLst/>
          </a:prstGeom>
          <a:solidFill>
            <a:srgbClr val="224433"/>
          </a:solidFill>
          <a:ln w="12700">
            <a:solidFill>
              <a:srgbClr val="446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8. Envasado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206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A8D5B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3840480"/>
            <a:ext cx="2011680" cy="1280160"/>
          </a:xfrm>
          <a:prstGeom prst="roundRect">
            <a:avLst/>
          </a:prstGeom>
          <a:solidFill>
            <a:srgbClr val="224433"/>
          </a:solidFill>
          <a:ln w="12700">
            <a:solidFill>
              <a:srgbClr val="446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9. Almacenamiento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89988"/>
                </a:solidFill>
                <a:latin typeface="Calibri"/>
              </a:defRPr>
            </a:pPr>
            <a:r>
              <a:t>PROCESO PRODUCTIVO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A3A2A"/>
                </a:solidFill>
                <a:latin typeface="Georgia"/>
              </a:defRPr>
            </a:pPr>
            <a:r>
              <a:t>Recepción y Separación Manual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2C5F2D"/>
                </a:solidFill>
                <a:latin typeface="Georgia"/>
              </a:defRPr>
            </a:pPr>
            <a:r>
              <a:t>Recepción de Materias Primas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572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2A1E"/>
                </a:solidFill>
                <a:latin typeface="Calibri"/>
              </a:defRPr>
            </a:pPr>
            <a:r>
              <a:t>Eucalipto en fardos de 25 kg (pallets)</a:t>
            </a:r>
          </a:p>
          <a:p>
            <a:pPr>
              <a:spcAft>
                <a:spcPts val="600"/>
              </a:spcAft>
              <a:defRPr sz="1500">
                <a:solidFill>
                  <a:srgbClr val="1A2A1E"/>
                </a:solidFill>
                <a:latin typeface="Calibri"/>
              </a:defRPr>
            </a:pPr>
            <a:r>
              <a:t>Etanol en bidones de 20 L</a:t>
            </a:r>
          </a:p>
          <a:p>
            <a:pPr>
              <a:spcAft>
                <a:spcPts val="600"/>
              </a:spcAft>
              <a:defRPr sz="1500">
                <a:solidFill>
                  <a:srgbClr val="1A2A1E"/>
                </a:solidFill>
                <a:latin typeface="Calibri"/>
              </a:defRPr>
            </a:pPr>
            <a:r>
              <a:t>Isopropanol en bidones de 20 L</a:t>
            </a:r>
          </a:p>
          <a:p>
            <a:pPr>
              <a:spcAft>
                <a:spcPts val="600"/>
              </a:spcAft>
              <a:defRPr sz="1500">
                <a:solidFill>
                  <a:srgbClr val="1A2A1E"/>
                </a:solidFill>
                <a:latin typeface="Calibri"/>
              </a:defRPr>
            </a:pPr>
            <a:r>
              <a:t>Glicerina en bidones de 5 L</a:t>
            </a:r>
          </a:p>
          <a:p>
            <a:pPr>
              <a:spcAft>
                <a:spcPts val="600"/>
              </a:spcAft>
              <a:defRPr sz="1500">
                <a:solidFill>
                  <a:srgbClr val="1A2A1E"/>
                </a:solidFill>
                <a:latin typeface="Calibri"/>
              </a:defRPr>
            </a:pPr>
            <a:r>
              <a:t>Sistema FIFO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2C5F2D"/>
                </a:solidFill>
                <a:latin typeface="Georgia"/>
              </a:defRPr>
            </a:pPr>
            <a:r>
              <a:t>Balance de Separación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1A2A1E"/>
                </a:solidFill>
                <a:latin typeface="Calibri"/>
              </a:defRPr>
            </a:pPr>
            <a:r>
              <a:t>F₁ = 100 kg/h (entrada)</a:t>
            </a:r>
            <a:br/>
            <a:br/>
            <a:r>
              <a:t>→ F₂ = 79 kg/h hojas</a:t>
            </a:r>
            <a:br/>
            <a:r>
              <a:t>→ R₁ = 20 kg/h ramas</a:t>
            </a:r>
            <a:br/>
            <a:r>
              <a:t>→ Pérdidas = 1%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5F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79977"/>
                </a:solidFill>
                <a:latin typeface="Calibri"/>
              </a:defRPr>
            </a:pPr>
            <a:r>
              <a:t>PROCESO PRODUCTIVO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Georgia"/>
              </a:defRPr>
            </a:pPr>
            <a:r>
              <a:t>Lixiviación — Parámetros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828800"/>
          <a:ext cx="5029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Parámetro</a:t>
                      </a:r>
                    </a:p>
                  </a:txBody>
                  <a:tcPr>
                    <a:solidFill>
                      <a:srgbClr val="2244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Valor</a:t>
                      </a:r>
                    </a:p>
                  </a:txBody>
                  <a:tcPr>
                    <a:solidFill>
                      <a:srgbClr val="2244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Solvente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Etanol 96%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Relación S/L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1:5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Tiempo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4 horas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T° medio líquido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80 °C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Vapor calentamiento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148 °C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ΔT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68 °C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T° condensación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85 °C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A8D5B0"/>
                </a:solidFill>
                <a:latin typeface="Georgia"/>
              </a:defRPr>
            </a:pPr>
            <a:r>
              <a:t>Sistema Integrado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2011680"/>
            <a:ext cx="4114800" cy="914400"/>
          </a:xfrm>
          <a:prstGeom prst="roundRect">
            <a:avLst/>
          </a:prstGeom>
          <a:solidFill>
            <a:srgbClr val="224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1600" b="1">
                <a:solidFill>
                  <a:srgbClr val="A8D5B0"/>
                </a:solidFill>
                <a:latin typeface="Georgia"/>
              </a:rPr>
              <a:t>Percolador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AABBAA"/>
                </a:solidFill>
                <a:latin typeface="Calibri"/>
              </a:rPr>
              <a:t>V = 0,62 m³ · D = 0,92 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3200400"/>
            <a:ext cx="4114800" cy="914400"/>
          </a:xfrm>
          <a:prstGeom prst="roundRect">
            <a:avLst/>
          </a:prstGeom>
          <a:solidFill>
            <a:srgbClr val="224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1600" b="1">
                <a:solidFill>
                  <a:srgbClr val="A8D5B0"/>
                </a:solidFill>
                <a:latin typeface="Georgia"/>
              </a:rPr>
              <a:t>Evaporador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AABBAA"/>
                </a:solidFill>
                <a:latin typeface="Calibri"/>
              </a:rPr>
              <a:t>A = 0,31 m²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4389120"/>
            <a:ext cx="4114800" cy="914400"/>
          </a:xfrm>
          <a:prstGeom prst="roundRect">
            <a:avLst/>
          </a:prstGeom>
          <a:solidFill>
            <a:srgbClr val="224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1600" b="1">
                <a:solidFill>
                  <a:srgbClr val="A8D5B0"/>
                </a:solidFill>
                <a:latin typeface="Georgia"/>
              </a:rPr>
              <a:t>Condensador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AABBAA"/>
                </a:solidFill>
                <a:latin typeface="Calibri"/>
              </a:rPr>
              <a:t>A = 0,49 m²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89988"/>
                </a:solidFill>
                <a:latin typeface="Calibri"/>
              </a:defRPr>
            </a:pPr>
            <a:r>
              <a:t>PROCESO PRODUCTIVO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A3A2A"/>
                </a:solidFill>
                <a:latin typeface="Georgia"/>
              </a:defRPr>
            </a:pPr>
            <a:r>
              <a:t>Arrastre con Vapor y Condensación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2C5F2D"/>
                </a:solidFill>
                <a:latin typeface="Georgia"/>
              </a:defRPr>
            </a:pPr>
            <a:r>
              <a:t>Arrastre con Vapor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572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2A1E"/>
                </a:solidFill>
                <a:latin typeface="Calibri"/>
              </a:defRPr>
            </a:pPr>
            <a:r>
              <a:t>Concentra aceite esencial</a:t>
            </a:r>
          </a:p>
          <a:p>
            <a:pPr>
              <a:spcAft>
                <a:spcPts val="600"/>
              </a:spcAft>
              <a:defRPr sz="1500">
                <a:solidFill>
                  <a:srgbClr val="1A2A1E"/>
                </a:solidFill>
                <a:latin typeface="Calibri"/>
              </a:defRPr>
            </a:pPr>
            <a:r>
              <a:t>Vapor inyectado: 3,50 kg/h</a:t>
            </a:r>
          </a:p>
          <a:p>
            <a:pPr>
              <a:spcAft>
                <a:spcPts val="600"/>
              </a:spcAft>
              <a:defRPr sz="1500">
                <a:solidFill>
                  <a:srgbClr val="1A2A1E"/>
                </a:solidFill>
                <a:latin typeface="Calibri"/>
              </a:defRPr>
            </a:pPr>
            <a:r>
              <a:t>78% del vapor concentra el aceite</a:t>
            </a:r>
          </a:p>
          <a:p>
            <a:pPr>
              <a:spcAft>
                <a:spcPts val="600"/>
              </a:spcAft>
              <a:defRPr sz="1500">
                <a:solidFill>
                  <a:srgbClr val="1A2A1E"/>
                </a:solidFill>
                <a:latin typeface="Calibri"/>
              </a:defRPr>
            </a:pPr>
            <a:r>
              <a:t>90% del aceite se recupera</a:t>
            </a:r>
          </a:p>
          <a:p>
            <a:pPr>
              <a:spcAft>
                <a:spcPts val="600"/>
              </a:spcAft>
              <a:defRPr sz="1500">
                <a:solidFill>
                  <a:srgbClr val="1A2A1E"/>
                </a:solidFill>
                <a:latin typeface="Calibri"/>
              </a:defRPr>
            </a:pPr>
            <a:r>
              <a:t>F₆ = 4,26 kg/h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2C5F2D"/>
                </a:solidFill>
                <a:latin typeface="Georgia"/>
              </a:defRPr>
            </a:pPr>
            <a:r>
              <a:t>Condensación y Equipo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572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2A1E"/>
                </a:solidFill>
                <a:latin typeface="Calibri"/>
              </a:defRPr>
            </a:pPr>
            <a:r>
              <a:t>Cambio de estado sin pérdida: F₆ = F₇ = 4,26 kg/h</a:t>
            </a:r>
          </a:p>
          <a:p>
            <a:pPr>
              <a:spcAft>
                <a:spcPts val="600"/>
              </a:spcAft>
              <a:defRPr sz="1500">
                <a:solidFill>
                  <a:srgbClr val="1A2A1E"/>
                </a:solidFill>
                <a:latin typeface="Calibri"/>
              </a:defRPr>
            </a:pPr>
            <a:r>
              <a:t>Destilador: D = 0,14 m, H = 0,13 m</a:t>
            </a:r>
          </a:p>
          <a:p>
            <a:pPr>
              <a:spcAft>
                <a:spcPts val="600"/>
              </a:spcAft>
              <a:defRPr sz="1500">
                <a:solidFill>
                  <a:srgbClr val="1A2A1E"/>
                </a:solidFill>
                <a:latin typeface="Calibri"/>
              </a:defRPr>
            </a:pPr>
            <a:r>
              <a:t>T. calentamiento: 10,50 min</a:t>
            </a:r>
          </a:p>
          <a:p>
            <a:pPr>
              <a:spcAft>
                <a:spcPts val="600"/>
              </a:spcAft>
              <a:defRPr sz="1500">
                <a:solidFill>
                  <a:srgbClr val="1A2A1E"/>
                </a:solidFill>
                <a:latin typeface="Calibri"/>
              </a:defRPr>
            </a:pPr>
            <a:r>
              <a:t>T. extracción: 30,43 min</a:t>
            </a:r>
          </a:p>
          <a:p>
            <a:pPr>
              <a:spcAft>
                <a:spcPts val="600"/>
              </a:spcAft>
              <a:defRPr sz="1500">
                <a:solidFill>
                  <a:srgbClr val="1A2A1E"/>
                </a:solidFill>
                <a:latin typeface="Calibri"/>
              </a:defRPr>
            </a:pPr>
            <a:r>
              <a:t>Potencia: 3,21 kW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5F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79977"/>
                </a:solidFill>
                <a:latin typeface="Calibri"/>
              </a:defRPr>
            </a:pPr>
            <a:r>
              <a:t>PROCESO PRODUCTIVO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Georgia"/>
              </a:defRPr>
            </a:pPr>
            <a:r>
              <a:t>Decantación y Mezclado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A8D5B0"/>
                </a:solidFill>
                <a:latin typeface="Georgia"/>
              </a:defRPr>
            </a:pPr>
            <a:r>
              <a:t>Decantación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DDCC"/>
                </a:solidFill>
                <a:latin typeface="Calibri"/>
              </a:defRPr>
            </a:pPr>
            <a:r>
              <a:t>Separación por gravedad</a:t>
            </a:r>
          </a:p>
          <a:p>
            <a:pPr>
              <a:spcAft>
                <a:spcPts val="600"/>
              </a:spcAft>
              <a:defRPr sz="1500">
                <a:solidFill>
                  <a:srgbClr val="CCDDCC"/>
                </a:solidFill>
                <a:latin typeface="Calibri"/>
              </a:defRPr>
            </a:pPr>
            <a:r>
              <a:t>Aceite esencial: 1,38 kg/h</a:t>
            </a:r>
          </a:p>
          <a:p>
            <a:pPr>
              <a:spcAft>
                <a:spcPts val="600"/>
              </a:spcAft>
              <a:defRPr sz="1500">
                <a:solidFill>
                  <a:srgbClr val="CCDDCC"/>
                </a:solidFill>
                <a:latin typeface="Calibri"/>
              </a:defRPr>
            </a:pPr>
            <a:r>
              <a:t>Pérdidas: 10%</a:t>
            </a:r>
          </a:p>
          <a:p>
            <a:pPr>
              <a:spcAft>
                <a:spcPts val="600"/>
              </a:spcAft>
              <a:defRPr sz="1500">
                <a:solidFill>
                  <a:srgbClr val="CCDDCC"/>
                </a:solidFill>
                <a:latin typeface="Calibri"/>
              </a:defRPr>
            </a:pPr>
            <a:r>
              <a:t>Agua residual: 2,88 kg/h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A8D5B0"/>
                </a:solidFill>
                <a:latin typeface="Georgia"/>
              </a:defRPr>
            </a:pPr>
            <a:r>
              <a:t>Mezclado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CCDDCC"/>
                </a:solidFill>
                <a:latin typeface="Calibri"/>
              </a:defRPr>
            </a:pPr>
            <a:r>
              <a:t>Aceite 1,38 kg/h + Isopropanol 1,44 kg/h + Glicerina 0,02 kg/h</a:t>
            </a:r>
            <a:br/>
            <a:br/>
            <a:r>
              <a:t>= 2,84 kg/h repelente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89988"/>
                </a:solidFill>
                <a:latin typeface="Calibri"/>
              </a:defRPr>
            </a:pPr>
            <a:r>
              <a:t>PROCESO PRODUCTIVO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A3A2A"/>
                </a:solidFill>
                <a:latin typeface="Georgia"/>
              </a:defRPr>
            </a:pPr>
            <a:r>
              <a:t>Envasado y Almacenamiento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4937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1600" b="1">
                <a:solidFill>
                  <a:srgbClr val="2C5F2D"/>
                </a:solidFill>
                <a:latin typeface="Georgia"/>
              </a:rPr>
              <a:t>Máquina ZT-Pack CBZ-4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3A4A3E"/>
                </a:solidFill>
                <a:latin typeface="Calibri"/>
              </a:rPr>
              <a:t>495 botellas/día (247/turno)
Potencia: 3 kW
Botella PET 100 mL con atomizador spray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2C5F2D"/>
                </a:solidFill>
                <a:latin typeface="Georgia"/>
              </a:defRPr>
            </a:pPr>
            <a:r>
              <a:t>Almacenamiento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2A1E"/>
                </a:solidFill>
                <a:latin typeface="Calibri"/>
              </a:defRPr>
            </a:pPr>
            <a:r>
              <a:t>Cajas de cartón corrugado</a:t>
            </a:r>
          </a:p>
          <a:p>
            <a:pPr>
              <a:spcAft>
                <a:spcPts val="600"/>
              </a:spcAft>
              <a:defRPr sz="1500">
                <a:solidFill>
                  <a:srgbClr val="1A2A1E"/>
                </a:solidFill>
                <a:latin typeface="Calibri"/>
              </a:defRPr>
            </a:pPr>
            <a:r>
              <a:t>Pallets retornables de plástico</a:t>
            </a:r>
          </a:p>
          <a:p>
            <a:pPr>
              <a:spcAft>
                <a:spcPts val="600"/>
              </a:spcAft>
              <a:defRPr sz="1500">
                <a:solidFill>
                  <a:srgbClr val="1A2A1E"/>
                </a:solidFill>
                <a:latin typeface="Calibri"/>
              </a:defRPr>
            </a:pPr>
            <a:r>
              <a:t>Film stretch</a:t>
            </a:r>
          </a:p>
          <a:p>
            <a:pPr>
              <a:spcAft>
                <a:spcPts val="600"/>
              </a:spcAft>
              <a:defRPr sz="1500">
                <a:solidFill>
                  <a:srgbClr val="1A2A1E"/>
                </a:solidFill>
                <a:latin typeface="Calibri"/>
              </a:defRPr>
            </a:pPr>
            <a:r>
              <a:t>Sistema FIFO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5F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79977"/>
                </a:solidFill>
                <a:latin typeface="Calibri"/>
              </a:defRPr>
            </a:pPr>
            <a:r>
              <a:t>PROCESO PRODUCTIVO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Georgia"/>
              </a:defRPr>
            </a:pPr>
            <a:r>
              <a:t>Balance de Masa — Resumen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51560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Etapa</a:t>
                      </a:r>
                    </a:p>
                  </a:txBody>
                  <a:tcPr>
                    <a:solidFill>
                      <a:srgbClr val="2244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Entrada (kg/h)</a:t>
                      </a:r>
                    </a:p>
                  </a:txBody>
                  <a:tcPr>
                    <a:solidFill>
                      <a:srgbClr val="2244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Salida (kg/h)</a:t>
                      </a:r>
                    </a:p>
                  </a:txBody>
                  <a:tcPr>
                    <a:solidFill>
                      <a:srgbClr val="2244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Residuo</a:t>
                      </a:r>
                    </a:p>
                  </a:txBody>
                  <a:tcPr>
                    <a:solidFill>
                      <a:srgbClr val="2244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Recepción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Separación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21 (ramas)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Lixiviación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471,89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1,70 (AE) + 115,95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354,24 (S)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Arrastre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1,70 + 3,50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4,26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0,94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Condensación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4,26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4,26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Decantación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4,26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1,38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2,88 (agua)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Mezclado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1,38 + 1,44 + 0,02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2,84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Envasado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2,84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49,50 L/día = 495 bot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116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 i="0">
                <a:solidFill>
                  <a:srgbClr val="FFFFFF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Georgia"/>
              </a:defRPr>
            </a:pPr>
            <a:r>
              <a:t>Control de Calidad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3749039"/>
            <a:ext cx="1554480" cy="2743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9319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99BB99"/>
                </a:solidFill>
                <a:latin typeface="Calibri"/>
              </a:defRPr>
            </a:pPr>
            <a:r>
              <a:t>Aseguramiento en cada etapa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89988"/>
                </a:solidFill>
                <a:latin typeface="Calibri"/>
              </a:defRPr>
            </a:pPr>
            <a:r>
              <a:t>CONTROL DE CALIDAD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A3A2A"/>
                </a:solidFill>
                <a:latin typeface="Georgia"/>
              </a:defRPr>
            </a:pPr>
            <a:r>
              <a:t>Control de Calidad — Materias Primas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4937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2000"/>
              <a:t>🌿  </a:t>
            </a:r>
            <a:r>
              <a:rPr sz="1600" b="1">
                <a:solidFill>
                  <a:srgbClr val="2C5F2D"/>
                </a:solidFill>
                <a:latin typeface="Georgia"/>
              </a:rPr>
              <a:t>Eucalipto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3A4A3E"/>
                </a:solidFill>
                <a:latin typeface="Calibri"/>
              </a:rPr>
              <a:t>Organolépticos, morfológicos, fisicoquímicos
(aceites ≥ 20 mL/g, secado ≤ 10%, cenizas ≤ 6%),
microbiológicos.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4937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2000"/>
              <a:t>🧪  </a:t>
            </a:r>
            <a:r>
              <a:rPr sz="1600" b="1">
                <a:solidFill>
                  <a:srgbClr val="2C5F2D"/>
                </a:solidFill>
                <a:latin typeface="Georgia"/>
              </a:rPr>
              <a:t>Etanol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3A4A3E"/>
                </a:solidFill>
                <a:latin typeface="Calibri"/>
              </a:rPr>
              <a:t>Color, olor, densidad, acidez.
Verificación de concentración 96%.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931920"/>
            <a:ext cx="4937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2000"/>
              <a:t>⚗️  </a:t>
            </a:r>
            <a:r>
              <a:rPr sz="1600" b="1">
                <a:solidFill>
                  <a:srgbClr val="2C5F2D"/>
                </a:solidFill>
                <a:latin typeface="Georgia"/>
              </a:rPr>
              <a:t>Isopropanol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3A4A3E"/>
                </a:solidFill>
                <a:latin typeface="Calibri"/>
              </a:rPr>
              <a:t>Color, olor, densidad, acidez.
Control de pureza y certificación.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4937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2000"/>
              <a:t>🫧  </a:t>
            </a:r>
            <a:r>
              <a:rPr sz="1600" b="1">
                <a:solidFill>
                  <a:srgbClr val="2C5F2D"/>
                </a:solidFill>
                <a:latin typeface="Georgia"/>
              </a:rPr>
              <a:t>Glicerina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3A4A3E"/>
                </a:solidFill>
                <a:latin typeface="Calibri"/>
              </a:rPr>
              <a:t>Color, densidad ≥ 1,25, agua ≤ 5%,
residuo de ignición ≤ 0,01%.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5F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79977"/>
                </a:solidFill>
                <a:latin typeface="Calibri"/>
              </a:defRPr>
            </a:pPr>
            <a:r>
              <a:t>CONTROL DE CALIDAD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Georgia"/>
              </a:defRPr>
            </a:pPr>
            <a:r>
              <a:t>Control en Proceso y Producto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A8D5B0"/>
                </a:solidFill>
                <a:latin typeface="Georgia"/>
              </a:defRPr>
            </a:pPr>
            <a:r>
              <a:t>Aceite Esencial (en proceso)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572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DDCC"/>
                </a:solidFill>
                <a:latin typeface="Calibri"/>
              </a:defRPr>
            </a:pPr>
            <a:r>
              <a:t>Control organoléptico continuo</a:t>
            </a:r>
          </a:p>
          <a:p>
            <a:pPr>
              <a:spcAft>
                <a:spcPts val="600"/>
              </a:spcAft>
              <a:defRPr sz="1500">
                <a:solidFill>
                  <a:srgbClr val="CCDDCC"/>
                </a:solidFill>
                <a:latin typeface="Calibri"/>
              </a:defRPr>
            </a:pPr>
            <a:r>
              <a:t>Cromatografía de capa fina (TLC)</a:t>
            </a:r>
          </a:p>
          <a:p>
            <a:pPr>
              <a:spcAft>
                <a:spcPts val="600"/>
              </a:spcAft>
              <a:defRPr sz="1500">
                <a:solidFill>
                  <a:srgbClr val="CCDDCC"/>
                </a:solidFill>
                <a:latin typeface="Calibri"/>
              </a:defRPr>
            </a:pPr>
            <a:r>
              <a:t>Determinación de componentes por Rf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A8D5B0"/>
                </a:solidFill>
                <a:latin typeface="Georgia"/>
              </a:defRPr>
            </a:pPr>
            <a:r>
              <a:t>Producto Final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2011680"/>
          <a:ext cx="45720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Parámetro</a:t>
                      </a:r>
                    </a:p>
                  </a:txBody>
                  <a:tcPr>
                    <a:solidFill>
                      <a:srgbClr val="2244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Especificación</a:t>
                      </a:r>
                    </a:p>
                  </a:txBody>
                  <a:tcPr>
                    <a:solidFill>
                      <a:srgbClr val="2244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Aspecto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Líquido verde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Eucalipto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4,50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Aceite esencial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Verificado por TLC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89988"/>
                </a:solidFill>
                <a:latin typeface="Calibri"/>
              </a:defRPr>
            </a:pPr>
            <a:r>
              <a:t>HIGIENE Y SEGURIDAD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A3A2A"/>
                </a:solidFill>
                <a:latin typeface="Georgia"/>
              </a:defRPr>
            </a:pPr>
            <a:r>
              <a:t>Higiene y Seguridad — EPP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32004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2000"/>
              <a:t>🦺  </a:t>
            </a:r>
            <a:r>
              <a:rPr sz="1600" b="1">
                <a:solidFill>
                  <a:srgbClr val="2C5F2D"/>
                </a:solidFill>
                <a:latin typeface="Georgia"/>
              </a:rPr>
              <a:t>EPP Obligatorio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3A4A3E"/>
                </a:solidFill>
                <a:latin typeface="Calibri"/>
              </a:rPr>
              <a:t>Casco ABS blanco, anteojos 3M, protector auditivo,
zapatos funcionales, guantes de cuero,
mascarilla con válvula.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737360"/>
            <a:ext cx="32004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2000"/>
              <a:t>🏭  </a:t>
            </a:r>
            <a:r>
              <a:rPr sz="1600" b="1">
                <a:solidFill>
                  <a:srgbClr val="2C5F2D"/>
                </a:solidFill>
                <a:latin typeface="Georgia"/>
              </a:rPr>
              <a:t>Condiciones Ambientales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3A4A3E"/>
                </a:solidFill>
                <a:latin typeface="Calibri"/>
              </a:rPr>
              <a:t>Ventilación controlada, iluminación según norma,
control de ruidos y vibraciones.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32004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2000"/>
              <a:t>🧯  </a:t>
            </a:r>
            <a:r>
              <a:rPr sz="1600" b="1">
                <a:solidFill>
                  <a:srgbClr val="2C5F2D"/>
                </a:solidFill>
                <a:latin typeface="Georgia"/>
              </a:rPr>
              <a:t>Protección Contra Incendio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3A4A3E"/>
                </a:solidFill>
                <a:latin typeface="Calibri"/>
              </a:rPr>
              <a:t>Clasificación de riesgo, extintores adecuados,
plan de evacuación, señalización reglamentaria.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5F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79977"/>
                </a:solidFill>
                <a:latin typeface="Calibri"/>
              </a:defRPr>
            </a:pPr>
            <a:r>
              <a:t>HIGIENE Y SEGURIDAD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Georgia"/>
              </a:defRPr>
            </a:pPr>
            <a:r>
              <a:t>Condiciones Ambientales e Incendio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A8D5B0"/>
                </a:solidFill>
                <a:latin typeface="Georgia"/>
              </a:defRPr>
            </a:pPr>
            <a:r>
              <a:t>Condiciones de Trabajo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572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DDCC"/>
                </a:solidFill>
                <a:latin typeface="Calibri"/>
              </a:defRPr>
            </a:pPr>
            <a:r>
              <a:t>Ventilación controlada</a:t>
            </a:r>
          </a:p>
          <a:p>
            <a:pPr>
              <a:spcAft>
                <a:spcPts val="600"/>
              </a:spcAft>
              <a:defRPr sz="1500">
                <a:solidFill>
                  <a:srgbClr val="CCDDCC"/>
                </a:solidFill>
                <a:latin typeface="Calibri"/>
              </a:defRPr>
            </a:pPr>
            <a:r>
              <a:t>Iluminación por método de cavidades zonales</a:t>
            </a:r>
          </a:p>
          <a:p>
            <a:pPr>
              <a:spcAft>
                <a:spcPts val="600"/>
              </a:spcAft>
              <a:defRPr sz="1500">
                <a:solidFill>
                  <a:srgbClr val="CCDDCC"/>
                </a:solidFill>
                <a:latin typeface="Calibri"/>
              </a:defRPr>
            </a:pPr>
            <a:r>
              <a:t>Ruidos y vibraciones controlados</a:t>
            </a:r>
          </a:p>
          <a:p>
            <a:pPr>
              <a:spcAft>
                <a:spcPts val="600"/>
              </a:spcAft>
              <a:defRPr sz="1500">
                <a:solidFill>
                  <a:srgbClr val="CCDDCC"/>
                </a:solidFill>
                <a:latin typeface="Calibri"/>
              </a:defRPr>
            </a:pPr>
            <a:r>
              <a:t>Instalaciones eléctricas seguras</a:t>
            </a:r>
          </a:p>
          <a:p>
            <a:pPr>
              <a:spcAft>
                <a:spcPts val="600"/>
              </a:spcAft>
              <a:defRPr sz="1500">
                <a:solidFill>
                  <a:srgbClr val="CCDDCC"/>
                </a:solidFill>
                <a:latin typeface="Calibri"/>
              </a:defRPr>
            </a:pPr>
            <a:r>
              <a:t>Colores en cañerías según DIN 2.403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A8D5B0"/>
                </a:solidFill>
                <a:latin typeface="Georgia"/>
              </a:defRPr>
            </a:pPr>
            <a:r>
              <a:t>Protección Contra Incendio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572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DDCC"/>
                </a:solidFill>
                <a:latin typeface="Calibri"/>
              </a:defRPr>
            </a:pPr>
            <a:r>
              <a:t>Clasificación de riesgo del sector</a:t>
            </a:r>
          </a:p>
          <a:p>
            <a:pPr>
              <a:spcAft>
                <a:spcPts val="600"/>
              </a:spcAft>
              <a:defRPr sz="1500">
                <a:solidFill>
                  <a:srgbClr val="CCDDCC"/>
                </a:solidFill>
                <a:latin typeface="Calibri"/>
              </a:defRPr>
            </a:pPr>
            <a:r>
              <a:t>Extintores adecuados según tipo de fuego</a:t>
            </a:r>
          </a:p>
          <a:p>
            <a:pPr>
              <a:spcAft>
                <a:spcPts val="600"/>
              </a:spcAft>
              <a:defRPr sz="1500">
                <a:solidFill>
                  <a:srgbClr val="CCDDCC"/>
                </a:solidFill>
                <a:latin typeface="Calibri"/>
              </a:defRPr>
            </a:pPr>
            <a:r>
              <a:t>Plan de evacuación documentado</a:t>
            </a:r>
          </a:p>
          <a:p>
            <a:pPr>
              <a:spcAft>
                <a:spcPts val="600"/>
              </a:spcAft>
              <a:defRPr sz="1500">
                <a:solidFill>
                  <a:srgbClr val="CCDDCC"/>
                </a:solidFill>
                <a:latin typeface="Calibri"/>
              </a:defRPr>
            </a:pPr>
            <a:r>
              <a:t>Señalización de obligación, advertencia e informativa</a:t>
            </a:r>
          </a:p>
          <a:p>
            <a:pPr>
              <a:spcAft>
                <a:spcPts val="600"/>
              </a:spcAft>
              <a:defRPr sz="1500">
                <a:solidFill>
                  <a:srgbClr val="CCDDCC"/>
                </a:solidFill>
                <a:latin typeface="Calibri"/>
              </a:defRPr>
            </a:pPr>
            <a:r>
              <a:t>Rombo NFPA para productos almacenados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89988"/>
                </a:solidFill>
                <a:latin typeface="Calibri"/>
              </a:defRPr>
            </a:pPr>
            <a:r>
              <a:t>IMPACTO Y MARCO JURÍDICO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A3A2A"/>
                </a:solidFill>
                <a:latin typeface="Georgia"/>
              </a:defRPr>
            </a:pPr>
            <a:r>
              <a:t>Impacto Ambiental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2C5F2D"/>
                </a:solidFill>
                <a:latin typeface="Georgia"/>
              </a:defRPr>
            </a:pPr>
            <a:r>
              <a:t>Metodología: Matriz de Conesa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4A3E"/>
                </a:solidFill>
                <a:latin typeface="Calibri"/>
              </a:defRPr>
            </a:pPr>
            <a:r>
              <a:t>Signo · Intensidad · Extensión · Momento · Persistencia · Reversibilidad · Recuperabilidad · Sinergia · Acumulación · Efecto · Periodicidad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737360"/>
            <a:ext cx="45720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1600" b="1">
                <a:solidFill>
                  <a:srgbClr val="2C5F2D"/>
                </a:solidFill>
                <a:latin typeface="Georgia"/>
              </a:rPr>
              <a:t>Resultados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3A4A3E"/>
                </a:solidFill>
                <a:latin typeface="Calibri"/>
              </a:rPr>
              <a:t>Impactos compatibles y moderados en etapas de construcción y operación.
Plan de mitigación para ambas etapas del proyecto.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5F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79977"/>
                </a:solidFill>
                <a:latin typeface="Calibri"/>
              </a:defRPr>
            </a:pPr>
            <a:r>
              <a:t>IMPACTO Y MARCO JURÍDICO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Georgia"/>
              </a:defRPr>
            </a:pPr>
            <a:r>
              <a:t>Impacto Social y Económico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3200400" cy="2286000"/>
          </a:xfrm>
          <a:prstGeom prst="roundRect">
            <a:avLst/>
          </a:prstGeom>
          <a:solidFill>
            <a:srgbClr val="224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2000"/>
              <a:t>👥  </a:t>
            </a:r>
            <a:r>
              <a:rPr sz="1600" b="1">
                <a:solidFill>
                  <a:srgbClr val="A8D5B0"/>
                </a:solidFill>
                <a:latin typeface="Georgia"/>
              </a:rPr>
              <a:t>Social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BBCCBB"/>
                </a:solidFill>
                <a:latin typeface="Calibri"/>
              </a:rPr>
              <a:t>20 empleados directos + 7 tercerizados.
Promoción de alternativas saludables.
Fortalecimiento industrial local.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737360"/>
            <a:ext cx="3200400" cy="2286000"/>
          </a:xfrm>
          <a:prstGeom prst="roundRect">
            <a:avLst/>
          </a:prstGeom>
          <a:solidFill>
            <a:srgbClr val="224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2000"/>
              <a:t>💰  </a:t>
            </a:r>
            <a:r>
              <a:rPr sz="1600" b="1">
                <a:solidFill>
                  <a:srgbClr val="A8D5B0"/>
                </a:solidFill>
                <a:latin typeface="Georgia"/>
              </a:rPr>
              <a:t>Económico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BBCCBB"/>
                </a:solidFill>
                <a:latin typeface="Calibri"/>
              </a:rPr>
              <a:t>Materia prima de bajo costo.
Alto valor agregado.
Valorización de recursos forestales.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3200400" cy="2286000"/>
          </a:xfrm>
          <a:prstGeom prst="roundRect">
            <a:avLst/>
          </a:prstGeom>
          <a:solidFill>
            <a:srgbClr val="224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2000"/>
              <a:t>🌍  </a:t>
            </a:r>
            <a:r>
              <a:rPr sz="1600" b="1">
                <a:solidFill>
                  <a:srgbClr val="A8D5B0"/>
                </a:solidFill>
                <a:latin typeface="Georgia"/>
              </a:rPr>
              <a:t>Ambiental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BBCCBB"/>
                </a:solidFill>
                <a:latin typeface="Calibri"/>
              </a:rPr>
              <a:t>Producto biodegradable.
Sin químicos sintéticos.
Bajo impacto ecológico.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89988"/>
                </a:solidFill>
                <a:latin typeface="Calibri"/>
              </a:defRPr>
            </a:pPr>
            <a:r>
              <a:t>IMPACTO Y MARCO JURÍDICO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A3A2A"/>
                </a:solidFill>
                <a:latin typeface="Georgia"/>
              </a:defRPr>
            </a:pPr>
            <a:r>
              <a:t>Marco Jurídico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32004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1600" b="1">
                <a:solidFill>
                  <a:srgbClr val="2C5F2D"/>
                </a:solidFill>
                <a:latin typeface="Georgia"/>
              </a:rPr>
              <a:t>Registro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3A4A3E"/>
                </a:solidFill>
                <a:latin typeface="Calibri"/>
              </a:rPr>
              <a:t>ANMAT — producto y establecimiento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737360"/>
            <a:ext cx="32004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1600" b="1">
                <a:solidFill>
                  <a:srgbClr val="2C5F2D"/>
                </a:solidFill>
                <a:latin typeface="Georgia"/>
              </a:rPr>
              <a:t>Localización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3A4A3E"/>
                </a:solidFill>
                <a:latin typeface="Calibri"/>
              </a:rPr>
              <a:t>Ley 8.478 (promoción industrial)
Ley 11.525 (parques industriales)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32004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1600" b="1">
                <a:solidFill>
                  <a:srgbClr val="2C5F2D"/>
                </a:solidFill>
                <a:latin typeface="Georgia"/>
              </a:rPr>
              <a:t>Laboral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3A4A3E"/>
                </a:solidFill>
                <a:latin typeface="Calibri"/>
              </a:rPr>
              <a:t>LCT · Convenio colectivo
Escala salarial CCT 42/89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749040"/>
            <a:ext cx="32004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1600" b="1">
                <a:solidFill>
                  <a:srgbClr val="2C5F2D"/>
                </a:solidFill>
                <a:latin typeface="Georgia"/>
              </a:rPr>
              <a:t>Calidad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3A4A3E"/>
                </a:solidFill>
                <a:latin typeface="Calibri"/>
              </a:rPr>
              <a:t>Farmacopea Argentina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749040"/>
            <a:ext cx="32004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1600" b="1">
                <a:solidFill>
                  <a:srgbClr val="2C5F2D"/>
                </a:solidFill>
                <a:latin typeface="Georgia"/>
              </a:rPr>
              <a:t>Fiscal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3A4A3E"/>
                </a:solidFill>
                <a:latin typeface="Calibri"/>
              </a:rPr>
              <a:t>Monotributo / Responsable inscripto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749040"/>
            <a:ext cx="32004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1600" b="1">
                <a:solidFill>
                  <a:srgbClr val="2C5F2D"/>
                </a:solidFill>
                <a:latin typeface="Georgia"/>
              </a:rPr>
              <a:t>Seguridad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3A4A3E"/>
                </a:solidFill>
                <a:latin typeface="Calibri"/>
              </a:rPr>
              <a:t>Ley 19.587 — Higiene y Seguridad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5F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79977"/>
                </a:solidFill>
                <a:latin typeface="Calibri"/>
              </a:defRPr>
            </a:pPr>
            <a:r>
              <a:t>ORGANIZACIÓN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Georgia"/>
              </a:defRPr>
            </a:pPr>
            <a:r>
              <a:t>Organización Industrial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A8D5B0"/>
                </a:solidFill>
                <a:latin typeface="Georgia"/>
              </a:defRPr>
            </a:pPr>
            <a:r>
              <a:t>Estructura — SRL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011680"/>
          <a:ext cx="5029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Sector</a:t>
                      </a:r>
                    </a:p>
                  </a:txBody>
                  <a:tcPr>
                    <a:solidFill>
                      <a:srgbClr val="2244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Cantidad</a:t>
                      </a:r>
                    </a:p>
                  </a:txBody>
                  <a:tcPr>
                    <a:solidFill>
                      <a:srgbClr val="2244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Gerente General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Jefe Producción y Calidad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Jefe Admin. y Comercialización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Operarios producción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Mantenimiento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Analistas calidad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Administrativos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Recepcionista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Total directos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0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A8D5B0"/>
                </a:solidFill>
                <a:latin typeface="Georgia"/>
              </a:defRPr>
            </a:pPr>
            <a:r>
              <a:t>Servicios Tercerizados (7)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011680"/>
            <a:ext cx="41148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DDCC"/>
                </a:solidFill>
                <a:latin typeface="Calibri"/>
              </a:defRPr>
            </a:pPr>
            <a:r>
              <a:t>Limpieza</a:t>
            </a:r>
          </a:p>
          <a:p>
            <a:pPr>
              <a:spcAft>
                <a:spcPts val="600"/>
              </a:spcAft>
              <a:defRPr sz="1500">
                <a:solidFill>
                  <a:srgbClr val="CCDDCC"/>
                </a:solidFill>
                <a:latin typeface="Calibri"/>
              </a:defRPr>
            </a:pPr>
            <a:r>
              <a:t>Higiene y seguridad</a:t>
            </a:r>
          </a:p>
          <a:p>
            <a:pPr>
              <a:spcAft>
                <a:spcPts val="600"/>
              </a:spcAft>
              <a:defRPr sz="1500">
                <a:solidFill>
                  <a:srgbClr val="CCDDCC"/>
                </a:solidFill>
                <a:latin typeface="Calibri"/>
              </a:defRPr>
            </a:pPr>
            <a:r>
              <a:t>Seguridad privada</a:t>
            </a:r>
          </a:p>
          <a:p>
            <a:pPr>
              <a:spcAft>
                <a:spcPts val="600"/>
              </a:spcAft>
              <a:defRPr sz="1500">
                <a:solidFill>
                  <a:srgbClr val="CCDDCC"/>
                </a:solidFill>
                <a:latin typeface="Calibri"/>
              </a:defRPr>
            </a:pPr>
            <a:r>
              <a:t>Legal</a:t>
            </a:r>
          </a:p>
          <a:p>
            <a:pPr>
              <a:spcAft>
                <a:spcPts val="600"/>
              </a:spcAft>
              <a:defRPr sz="1500">
                <a:solidFill>
                  <a:srgbClr val="CCDDCC"/>
                </a:solidFill>
                <a:latin typeface="Calibri"/>
              </a:defRPr>
            </a:pPr>
            <a:r>
              <a:t>Transporte</a:t>
            </a:r>
          </a:p>
          <a:p>
            <a:pPr>
              <a:spcAft>
                <a:spcPts val="600"/>
              </a:spcAft>
              <a:defRPr sz="1500">
                <a:solidFill>
                  <a:srgbClr val="CCDDCC"/>
                </a:solidFill>
                <a:latin typeface="Calibri"/>
              </a:defRPr>
            </a:pPr>
            <a:r>
              <a:t>Laboratorio externo</a:t>
            </a:r>
          </a:p>
          <a:p>
            <a:pPr>
              <a:spcAft>
                <a:spcPts val="600"/>
              </a:spcAft>
              <a:defRPr sz="1500">
                <a:solidFill>
                  <a:srgbClr val="CCDDCC"/>
                </a:solidFill>
                <a:latin typeface="Calibri"/>
              </a:defRPr>
            </a:pPr>
            <a:r>
              <a:t>Informática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89988"/>
                </a:solidFill>
                <a:latin typeface="Calibri"/>
              </a:defRPr>
            </a:pPr>
            <a:r>
              <a:t>ORGANIZACIÓN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A3A2A"/>
                </a:solidFill>
                <a:latin typeface="Georgia"/>
              </a:defRPr>
            </a:pPr>
            <a:r>
              <a:t>Planificación y Edificación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2C5F2D"/>
                </a:solidFill>
                <a:latin typeface="Georgia"/>
              </a:defRPr>
            </a:pPr>
            <a:r>
              <a:t>Zona Cubierta — 1.127,27 m²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011680"/>
          <a:ext cx="4572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Sector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m²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Producción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539,00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Almacén 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91,30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Oficinas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119,31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Laboratorio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36,07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Mantenimiento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52,49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Expedición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94,62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Baños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99,20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58000" y="1737360"/>
            <a:ext cx="4114800" cy="1371600"/>
          </a:xfrm>
          <a:prstGeom prst="round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Georgia"/>
              </a:rPr>
              <a:t>4.895 m²</a:t>
            </a:r>
          </a:p>
          <a:p>
            <a:pPr algn="ctr"/>
            <a:r>
              <a:rPr sz="1000" b="1">
                <a:solidFill>
                  <a:srgbClr val="CCDDCC"/>
                </a:solidFill>
                <a:latin typeface="Calibri"/>
              </a:rPr>
              <a:t>Terreno 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3474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2C5F2D"/>
                </a:solidFill>
                <a:latin typeface="Georgia"/>
              </a:defRPr>
            </a:pPr>
            <a:r>
              <a:t>Zona Descubierta — 3.767,73 m²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93192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2A1E"/>
                </a:solidFill>
                <a:latin typeface="Calibri"/>
              </a:defRPr>
            </a:pPr>
            <a:r>
              <a:t>Calles internas</a:t>
            </a:r>
          </a:p>
          <a:p>
            <a:pPr>
              <a:spcAft>
                <a:spcPts val="600"/>
              </a:spcAft>
              <a:defRPr sz="1500">
                <a:solidFill>
                  <a:srgbClr val="1A2A1E"/>
                </a:solidFill>
                <a:latin typeface="Calibri"/>
              </a:defRPr>
            </a:pPr>
            <a:r>
              <a:t>Estacionamiento</a:t>
            </a:r>
          </a:p>
          <a:p>
            <a:pPr>
              <a:spcAft>
                <a:spcPts val="600"/>
              </a:spcAft>
              <a:defRPr sz="1500">
                <a:solidFill>
                  <a:srgbClr val="1A2A1E"/>
                </a:solidFill>
                <a:latin typeface="Calibri"/>
              </a:defRPr>
            </a:pPr>
            <a:r>
              <a:t>Espacios verdes</a:t>
            </a:r>
          </a:p>
          <a:p>
            <a:pPr>
              <a:spcAft>
                <a:spcPts val="600"/>
              </a:spcAft>
              <a:defRPr sz="1500">
                <a:solidFill>
                  <a:srgbClr val="1A2A1E"/>
                </a:solidFill>
                <a:latin typeface="Calibri"/>
              </a:defRPr>
            </a:pPr>
            <a:r>
              <a:t>Senderos peatonales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5F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79977"/>
                </a:solidFill>
                <a:latin typeface="Calibri"/>
              </a:defRPr>
            </a:pPr>
            <a:r>
              <a:t>SERVICIOS AUXILIARES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Georgia"/>
              </a:defRPr>
            </a:pPr>
            <a:r>
              <a:t>Servicios Auxiliares — Agua y Gas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A8D5B0"/>
                </a:solidFill>
                <a:latin typeface="Georgia"/>
              </a:defRPr>
            </a:pPr>
            <a:r>
              <a:t>💧 Agua Total: 44,80 m³/sem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011680"/>
          <a:ext cx="45720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Uso</a:t>
                      </a:r>
                    </a:p>
                  </a:txBody>
                  <a:tcPr>
                    <a:solidFill>
                      <a:srgbClr val="2244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m³/sem</a:t>
                      </a:r>
                    </a:p>
                  </a:txBody>
                  <a:tcPr>
                    <a:solidFill>
                      <a:srgbClr val="2244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Vapor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20,59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Refrigeración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12,25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Limpieza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7,22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Uso humano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2,70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A8D5B0"/>
                </a:solidFill>
                <a:latin typeface="Georgia"/>
              </a:defRPr>
            </a:pPr>
            <a:r>
              <a:t>🔥 Gas Natural: 161 m³/sem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2011680"/>
          <a:ext cx="4572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Uso</a:t>
                      </a:r>
                    </a:p>
                  </a:txBody>
                  <a:tcPr>
                    <a:solidFill>
                      <a:srgbClr val="2244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m³/día</a:t>
                      </a:r>
                    </a:p>
                  </a:txBody>
                  <a:tcPr>
                    <a:solidFill>
                      <a:srgbClr val="2244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Lixiviación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6,45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Arrastre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3,82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Calefacción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28,38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89988"/>
                </a:solidFill>
                <a:latin typeface="Calibri"/>
              </a:defRPr>
            </a:pPr>
            <a:r>
              <a:t>SERVICIOS AUXILIARES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A3A2A"/>
                </a:solidFill>
                <a:latin typeface="Georgia"/>
              </a:defRPr>
            </a:pPr>
            <a:r>
              <a:t>Electricidad, Aire y Caldera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2C5F2D"/>
                </a:solidFill>
                <a:latin typeface="Georgia"/>
              </a:defRPr>
            </a:pPr>
            <a:r>
              <a:t>⚡ Energía: 2.047,85 kWh/sem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011680"/>
          <a:ext cx="45720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Uso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kWh/sem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Motores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953,80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Iluminación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1.094,05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3657600"/>
            <a:ext cx="45720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1600" b="1">
                <a:solidFill>
                  <a:srgbClr val="2C5F2D"/>
                </a:solidFill>
                <a:latin typeface="Georgia"/>
              </a:rPr>
              <a:t>💨 Aire Comprimido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3A4A3E"/>
                </a:solidFill>
                <a:latin typeface="Calibri"/>
              </a:rPr>
              <a:t>200 L/min = 960.000 L/sem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2C5F2D"/>
                </a:solidFill>
                <a:latin typeface="Georgia"/>
              </a:defRPr>
            </a:pPr>
            <a:r>
              <a:t>Caldera LNR 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2011680"/>
          <a:ext cx="4572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Parámetro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Valor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Vapor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218,73 kg/h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Agua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257,4 kg/h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Eficiencia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85%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116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 i="0">
                <a:solidFill>
                  <a:srgbClr val="FFFFFF"/>
                </a:solidFill>
                <a:latin typeface="Calibri"/>
              </a:defRPr>
            </a:pPr>
            <a:r>
              <a:t>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Georgia"/>
              </a:defRPr>
            </a:pPr>
            <a:r>
              <a:t>Inversiones y Costos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3749039"/>
            <a:ext cx="1554480" cy="2743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9319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99BB99"/>
                </a:solidFill>
                <a:latin typeface="Calibri"/>
              </a:defRPr>
            </a:pPr>
            <a:r>
              <a:t>Análisis económico del proyecto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5F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79977"/>
                </a:solidFill>
                <a:latin typeface="Calibri"/>
              </a:defRPr>
            </a:pPr>
            <a:r>
              <a:t>INVERSIONES Y COSTOS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Georgia"/>
              </a:defRPr>
            </a:pPr>
            <a:r>
              <a:t>Inversión Total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731520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Rubro</a:t>
                      </a:r>
                    </a:p>
                  </a:txBody>
                  <a:tcPr>
                    <a:solidFill>
                      <a:srgbClr val="2244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Detalle</a:t>
                      </a:r>
                    </a:p>
                  </a:txBody>
                  <a:tcPr>
                    <a:solidFill>
                      <a:srgbClr val="2244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Costo (miles $)</a:t>
                      </a:r>
                    </a:p>
                  </a:txBody>
                  <a:tcPr>
                    <a:solidFill>
                      <a:srgbClr val="2244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Terreno y edificios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289.996,60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Equipos y accesorios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608.108,23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Instalaciones eléctricas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3.599,60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Equipamiento oficinas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14.745,00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Rodados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67.720,00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Gastos de proyecto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54,10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VII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Montaje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35,92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Con 5% protección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$1.033.472,43k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686800" y="1737360"/>
            <a:ext cx="3017520" cy="1371600"/>
          </a:xfrm>
          <a:prstGeom prst="roundRect">
            <a:avLst/>
          </a:prstGeom>
          <a:solidFill>
            <a:srgbClr val="1F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ctr"/>
            <a:r>
              <a:rPr sz="900" b="1">
                <a:solidFill>
                  <a:srgbClr val="88AA88"/>
                </a:solidFill>
              </a:rPr>
              <a:t>FINANCIAMIENTO</a:t>
            </a:r>
          </a:p>
          <a:p>
            <a:r>
              <a:rPr sz="1300" b="1">
                <a:solidFill>
                  <a:srgbClr val="FFFFFF"/>
                </a:solidFill>
              </a:rPr>
              <a:t>Banco Nación Argentina
25% del total · Tasa 40%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89988"/>
                </a:solidFill>
                <a:latin typeface="Calibri"/>
              </a:defRPr>
            </a:pPr>
            <a:r>
              <a:t>INVERSIONES Y COSTOS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A3A2A"/>
                </a:solidFill>
                <a:latin typeface="Georgia"/>
              </a:defRPr>
            </a:pPr>
            <a:r>
              <a:t>Costos Operativos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2C5F2D"/>
                </a:solidFill>
                <a:latin typeface="Georgia"/>
              </a:defRPr>
            </a:pPr>
            <a:r>
              <a:t>Componentes del COT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50292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2A1E"/>
                </a:solidFill>
                <a:latin typeface="Calibri"/>
              </a:defRPr>
            </a:pPr>
            <a:r>
              <a:t>Costo materias primas (eucalipto + solventes + glicerina)</a:t>
            </a:r>
          </a:p>
          <a:p>
            <a:pPr>
              <a:spcAft>
                <a:spcPts val="600"/>
              </a:spcAft>
              <a:defRPr sz="1500">
                <a:solidFill>
                  <a:srgbClr val="1A2A1E"/>
                </a:solidFill>
                <a:latin typeface="Calibri"/>
              </a:defRPr>
            </a:pPr>
            <a:r>
              <a:t>Envase y embalaje</a:t>
            </a:r>
          </a:p>
          <a:p>
            <a:pPr>
              <a:spcAft>
                <a:spcPts val="600"/>
              </a:spcAft>
              <a:defRPr sz="1500">
                <a:solidFill>
                  <a:srgbClr val="1A2A1E"/>
                </a:solidFill>
                <a:latin typeface="Calibri"/>
              </a:defRPr>
            </a:pPr>
            <a:r>
              <a:t>Mano de obra directa e indirecta</a:t>
            </a:r>
          </a:p>
          <a:p>
            <a:pPr>
              <a:spcAft>
                <a:spcPts val="600"/>
              </a:spcAft>
              <a:defRPr sz="1500">
                <a:solidFill>
                  <a:srgbClr val="1A2A1E"/>
                </a:solidFill>
                <a:latin typeface="Calibri"/>
              </a:defRPr>
            </a:pPr>
            <a:r>
              <a:t>Energía eléctrica y combustible (gas)</a:t>
            </a:r>
          </a:p>
          <a:p>
            <a:pPr>
              <a:spcAft>
                <a:spcPts val="600"/>
              </a:spcAft>
              <a:defRPr sz="1500">
                <a:solidFill>
                  <a:srgbClr val="1A2A1E"/>
                </a:solidFill>
                <a:latin typeface="Calibri"/>
              </a:defRPr>
            </a:pPr>
            <a:r>
              <a:t>Agua, EPP, mantenimiento</a:t>
            </a:r>
          </a:p>
          <a:p>
            <a:pPr>
              <a:spcAft>
                <a:spcPts val="600"/>
              </a:spcAft>
              <a:defRPr sz="1500">
                <a:solidFill>
                  <a:srgbClr val="1A2A1E"/>
                </a:solidFill>
                <a:latin typeface="Calibri"/>
              </a:defRPr>
            </a:pPr>
            <a:r>
              <a:t>Seguros y servicios tercerizados</a:t>
            </a:r>
          </a:p>
          <a:p>
            <a:pPr>
              <a:spcAft>
                <a:spcPts val="600"/>
              </a:spcAft>
              <a:defRPr sz="1500">
                <a:solidFill>
                  <a:srgbClr val="1A2A1E"/>
                </a:solidFill>
                <a:latin typeface="Calibri"/>
              </a:defRPr>
            </a:pPr>
            <a:r>
              <a:t>Depreciaciones y amortizaciones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828800"/>
            <a:ext cx="4114800" cy="1645920"/>
          </a:xfrm>
          <a:prstGeom prst="round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Georgia"/>
              </a:rPr>
              <a:t>$33.421</a:t>
            </a:r>
          </a:p>
          <a:p>
            <a:pPr algn="ctr"/>
            <a:r>
              <a:rPr sz="1000" b="1">
                <a:solidFill>
                  <a:srgbClr val="CCDDCC"/>
                </a:solidFill>
                <a:latin typeface="Calibri"/>
              </a:rPr>
              <a:t>Costo unitario / botella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3840480"/>
            <a:ext cx="4114800" cy="1645920"/>
          </a:xfrm>
          <a:prstGeom prst="round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E8D5A0"/>
                </a:solidFill>
                <a:latin typeface="Georgia"/>
              </a:rPr>
              <a:t>$41.776</a:t>
            </a:r>
          </a:p>
          <a:p>
            <a:pPr algn="ctr"/>
            <a:r>
              <a:rPr sz="1000" b="1">
                <a:solidFill>
                  <a:srgbClr val="CCDDCC"/>
                </a:solidFill>
                <a:latin typeface="Calibri"/>
              </a:rPr>
              <a:t>Precio de venta (25% ganancia)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5F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79977"/>
                </a:solidFill>
                <a:latin typeface="Calibri"/>
              </a:defRPr>
            </a:pPr>
            <a:r>
              <a:t>EVALUACIÓN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Georgia"/>
              </a:defRPr>
            </a:pPr>
            <a:r>
              <a:t>Punto de Equilibrio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4572000" cy="1280160"/>
          </a:xfrm>
          <a:prstGeom prst="roundRect">
            <a:avLst/>
          </a:prstGeom>
          <a:solidFill>
            <a:srgbClr val="224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A8D5B0"/>
                </a:solidFill>
                <a:latin typeface="Georgia"/>
              </a:rPr>
              <a:t>73.677</a:t>
            </a:r>
          </a:p>
          <a:p>
            <a:pPr algn="ctr"/>
            <a:r>
              <a:rPr sz="1000" b="1">
                <a:solidFill>
                  <a:srgbClr val="88AA88"/>
                </a:solidFill>
                <a:latin typeface="Calibri"/>
              </a:rPr>
              <a:t>Botellas — Punto de equilibrio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383280"/>
            <a:ext cx="4572000" cy="1280160"/>
          </a:xfrm>
          <a:prstGeom prst="roundRect">
            <a:avLst/>
          </a:prstGeom>
          <a:solidFill>
            <a:srgbClr val="224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A8D5B0"/>
                </a:solidFill>
                <a:latin typeface="Georgia"/>
              </a:rPr>
              <a:t>49,6%</a:t>
            </a:r>
          </a:p>
          <a:p>
            <a:pPr algn="ctr"/>
            <a:r>
              <a:rPr sz="1000" b="1">
                <a:solidFill>
                  <a:srgbClr val="88AA88"/>
                </a:solidFill>
                <a:latin typeface="Calibri"/>
              </a:rPr>
              <a:t>de la capacidad instalada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937760"/>
            <a:ext cx="4572000" cy="1280160"/>
          </a:xfrm>
          <a:prstGeom prst="roundRect">
            <a:avLst/>
          </a:prstGeom>
          <a:solidFill>
            <a:srgbClr val="224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A8D5B0"/>
                </a:solidFill>
                <a:latin typeface="Georgia"/>
              </a:rPr>
              <a:t>43,1%</a:t>
            </a:r>
          </a:p>
          <a:p>
            <a:pPr algn="ctr"/>
            <a:r>
              <a:rPr sz="1000" b="1">
                <a:solidFill>
                  <a:srgbClr val="88AA88"/>
                </a:solidFill>
                <a:latin typeface="Calibri"/>
              </a:rPr>
              <a:t>Margen de seguridad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A8D5B0"/>
                </a:solidFill>
                <a:latin typeface="Georgia"/>
              </a:defRPr>
            </a:pPr>
            <a:r>
              <a:t>Análisis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DDCC"/>
                </a:solidFill>
                <a:latin typeface="Calibri"/>
              </a:defRPr>
            </a:pPr>
            <a:r>
              <a:t>Ingreso = PV × Q</a:t>
            </a:r>
          </a:p>
          <a:p>
            <a:pPr>
              <a:spcAft>
                <a:spcPts val="600"/>
              </a:spcAft>
              <a:defRPr sz="1500">
                <a:solidFill>
                  <a:srgbClr val="CCDDCC"/>
                </a:solidFill>
                <a:latin typeface="Calibri"/>
              </a:defRPr>
            </a:pPr>
            <a:r>
              <a:t>Costo = CF + CV × Q</a:t>
            </a:r>
          </a:p>
          <a:p>
            <a:pPr>
              <a:spcAft>
                <a:spcPts val="600"/>
              </a:spcAft>
              <a:defRPr sz="1500">
                <a:solidFill>
                  <a:srgbClr val="CCDDCC"/>
                </a:solidFill>
                <a:latin typeface="Calibri"/>
              </a:defRPr>
            </a:pPr>
            <a:r>
              <a:t>Todo volumen superior al punto de equilibrio genera ganancias</a:t>
            </a:r>
          </a:p>
          <a:p>
            <a:pPr>
              <a:spcAft>
                <a:spcPts val="600"/>
              </a:spcAft>
              <a:defRPr sz="1500">
                <a:solidFill>
                  <a:srgbClr val="CCDDCC"/>
                </a:solidFill>
                <a:latin typeface="Calibri"/>
              </a:defRPr>
            </a:pPr>
            <a:r>
              <a:t>Capacidad real (148.500 bot/año) supera ampliamente el equilibrio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89988"/>
                </a:solidFill>
                <a:latin typeface="Calibri"/>
              </a:defRPr>
            </a:pPr>
            <a:r>
              <a:t>EVALUACIÓN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A3A2A"/>
                </a:solidFill>
                <a:latin typeface="Georgia"/>
              </a:defRPr>
            </a:pPr>
            <a:r>
              <a:t>Evaluación del Proyecto — VAN y TIR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515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Escenario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TMAR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VAN (miles $)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TIR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Sin inflación, sin financiamiento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5.571.871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190,28%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Con inflación, sin financiamiento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55%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5.571.871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291,88%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Con inflación, con financiamiento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6.128.700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A1E"/>
                          </a:solidFill>
                          <a:latin typeface="Calibri"/>
                        </a:defRPr>
                      </a:pPr>
                      <a:r>
                        <a:t>381,98%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14400" y="4114800"/>
            <a:ext cx="4846320" cy="1645920"/>
          </a:xfrm>
          <a:prstGeom prst="round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Georgia"/>
              </a:rPr>
              <a:t>$6.128 M</a:t>
            </a:r>
          </a:p>
          <a:p>
            <a:pPr algn="ctr"/>
            <a:r>
              <a:rPr sz="1000" b="1">
                <a:solidFill>
                  <a:srgbClr val="CCDDCC"/>
                </a:solidFill>
                <a:latin typeface="Calibri"/>
              </a:rPr>
              <a:t>VAN — Valor Actual Neto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14800"/>
            <a:ext cx="4846320" cy="1645920"/>
          </a:xfrm>
          <a:prstGeom prst="round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E8D5A0"/>
                </a:solidFill>
                <a:latin typeface="Georgia"/>
              </a:rPr>
              <a:t>381,98%</a:t>
            </a:r>
          </a:p>
          <a:p>
            <a:pPr algn="ctr"/>
            <a:r>
              <a:rPr sz="1000" b="1">
                <a:solidFill>
                  <a:srgbClr val="CCDDCC"/>
                </a:solidFill>
                <a:latin typeface="Calibri"/>
              </a:rPr>
              <a:t>TIR — Tasa Interna de Retorno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5F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79977"/>
                </a:solidFill>
                <a:latin typeface="Calibri"/>
              </a:defRPr>
            </a:pPr>
            <a:r>
              <a:t>EVALUACIÓN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Georgia"/>
              </a:defRPr>
            </a:pPr>
            <a:r>
              <a:t>Factibilidad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5029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DDCC"/>
                </a:solidFill>
                <a:latin typeface="Calibri"/>
              </a:defRPr>
            </a:pPr>
            <a:r>
              <a:t>VAN positivo en los 3 escenarios → proyecto viable</a:t>
            </a:r>
          </a:p>
          <a:p>
            <a:pPr>
              <a:spcAft>
                <a:spcPts val="600"/>
              </a:spcAft>
              <a:defRPr sz="1600">
                <a:solidFill>
                  <a:srgbClr val="CCDDCC"/>
                </a:solidFill>
                <a:latin typeface="Calibri"/>
              </a:defRPr>
            </a:pPr>
            <a:r>
              <a:t>TIR muy superior a TMAR → inversión favorable</a:t>
            </a:r>
          </a:p>
          <a:p>
            <a:pPr>
              <a:spcAft>
                <a:spcPts val="600"/>
              </a:spcAft>
              <a:defRPr sz="1600">
                <a:solidFill>
                  <a:srgbClr val="CCDDCC"/>
                </a:solidFill>
                <a:latin typeface="Calibri"/>
              </a:defRPr>
            </a:pPr>
            <a:r>
              <a:t>FNE crecientes en los 5 años de evaluación</a:t>
            </a:r>
          </a:p>
          <a:p>
            <a:pPr>
              <a:spcAft>
                <a:spcPts val="600"/>
              </a:spcAft>
              <a:defRPr sz="1600">
                <a:solidFill>
                  <a:srgbClr val="CCDDCC"/>
                </a:solidFill>
                <a:latin typeface="Calibri"/>
              </a:defRPr>
            </a:pPr>
            <a:r>
              <a:t>Valor de salvamento: $2.379 millones</a:t>
            </a:r>
          </a:p>
          <a:p>
            <a:pPr>
              <a:spcAft>
                <a:spcPts val="600"/>
              </a:spcAft>
              <a:defRPr sz="1600">
                <a:solidFill>
                  <a:srgbClr val="CCDDCC"/>
                </a:solidFill>
                <a:latin typeface="Calibri"/>
              </a:defRPr>
            </a:pPr>
            <a:r>
              <a:t>Escenario 3 elegido (mayor VAN y TIR)</a:t>
            </a:r>
          </a:p>
          <a:p>
            <a:pPr>
              <a:spcAft>
                <a:spcPts val="600"/>
              </a:spcAft>
              <a:defRPr sz="1600">
                <a:solidFill>
                  <a:srgbClr val="CCDDCC"/>
                </a:solidFill>
                <a:latin typeface="Calibri"/>
              </a:defRPr>
            </a:pPr>
            <a:r>
              <a:t>Un turno adicional incrementa rentabilidad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286000"/>
            <a:ext cx="4114800" cy="137160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✓ PROYECTO VIABLE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41148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99BB99"/>
                </a:solidFill>
                <a:latin typeface="Calibri"/>
              </a:defRPr>
            </a:pPr>
            <a:r>
              <a:t>Precio mínimo rentable:</a:t>
            </a:r>
            <a:br/>
            <a:r>
              <a:t>$29.190,95/botella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5F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79977"/>
                </a:solidFill>
                <a:latin typeface="Calibri"/>
              </a:defRPr>
            </a:pPr>
            <a: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Georgia"/>
              </a:defRPr>
            </a:pPr>
            <a:r>
              <a:t>Conclusiones Generales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9144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A8D5B0"/>
                </a:solidFill>
                <a:latin typeface="Calibri"/>
              </a:rPr>
              <a:t>1.  </a:t>
            </a:r>
            <a:r>
              <a:rPr sz="1700">
                <a:solidFill>
                  <a:srgbClr val="CCDDCC"/>
                </a:solidFill>
                <a:latin typeface="Calibri"/>
              </a:rPr>
              <a:t>Condiciones favorables de implementación técnica y territorial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A8D5B0"/>
                </a:solidFill>
                <a:latin typeface="Calibri"/>
              </a:rPr>
              <a:t>2.  </a:t>
            </a:r>
            <a:r>
              <a:rPr sz="1700">
                <a:solidFill>
                  <a:srgbClr val="CCDDCC"/>
                </a:solidFill>
                <a:latin typeface="Calibri"/>
              </a:rPr>
              <a:t>Proyección de ingresos justifica la inversión (VAN $6.128M, TIR 381,98%)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A8D5B0"/>
                </a:solidFill>
                <a:latin typeface="Calibri"/>
              </a:rPr>
              <a:t>3.  </a:t>
            </a:r>
            <a:r>
              <a:rPr sz="1700">
                <a:solidFill>
                  <a:srgbClr val="CCDDCC"/>
                </a:solidFill>
                <a:latin typeface="Calibri"/>
              </a:rPr>
              <a:t>Aporte al desarrollo local: empleo e industria en Sauce Viejo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A8D5B0"/>
                </a:solidFill>
                <a:latin typeface="Calibri"/>
              </a:rPr>
              <a:t>4.  </a:t>
            </a:r>
            <a:r>
              <a:rPr sz="1700">
                <a:solidFill>
                  <a:srgbClr val="CCDDCC"/>
                </a:solidFill>
                <a:latin typeface="Calibri"/>
              </a:rPr>
              <a:t>Criterios de calidad en cada etapa (Farmacopea Argentina)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A8D5B0"/>
                </a:solidFill>
                <a:latin typeface="Calibri"/>
              </a:rPr>
              <a:t>5.  </a:t>
            </a:r>
            <a:r>
              <a:rPr sz="1700">
                <a:solidFill>
                  <a:srgbClr val="CCDDCC"/>
                </a:solidFill>
                <a:latin typeface="Calibri"/>
              </a:rPr>
              <a:t>Valor agregado a recursos forestales locales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A8D5B0"/>
                </a:solidFill>
                <a:latin typeface="Calibri"/>
              </a:rPr>
              <a:t>6.  </a:t>
            </a:r>
            <a:r>
              <a:rPr sz="1700">
                <a:solidFill>
                  <a:srgbClr val="CCDDCC"/>
                </a:solidFill>
                <a:latin typeface="Calibri"/>
              </a:rPr>
              <a:t>Alternativa sostenible y competitiva en el mercado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89988"/>
                </a:solidFill>
                <a:latin typeface="Calibri"/>
              </a:defRPr>
            </a:pPr>
            <a:r>
              <a:t>RESUMEN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A3A2A"/>
                </a:solidFill>
                <a:latin typeface="Georgia"/>
              </a:defRPr>
            </a:pPr>
            <a:r>
              <a:t>Indicadores Clave del Proyecto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2011680" cy="1737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1A2A1E"/>
                </a:solidFill>
                <a:latin typeface="Georgia"/>
              </a:rPr>
              <a:t>49,50 L/d</a:t>
            </a:r>
          </a:p>
          <a:p>
            <a:pPr algn="ctr"/>
            <a:r>
              <a:rPr sz="1000" b="1">
                <a:solidFill>
                  <a:srgbClr val="3A4A3E"/>
                </a:solidFill>
                <a:latin typeface="Calibri"/>
              </a:rPr>
              <a:t>Producción diaria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06624" y="1737360"/>
            <a:ext cx="2011680" cy="1737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1A2A1E"/>
                </a:solidFill>
                <a:latin typeface="Georgia"/>
              </a:rPr>
              <a:t>148.500</a:t>
            </a:r>
          </a:p>
          <a:p>
            <a:pPr algn="ctr"/>
            <a:r>
              <a:rPr sz="1000" b="1">
                <a:solidFill>
                  <a:srgbClr val="3A4A3E"/>
                </a:solidFill>
                <a:latin typeface="Calibri"/>
              </a:rPr>
              <a:t>Botellas / año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6048" y="1737360"/>
            <a:ext cx="2011680" cy="1737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1A2A1E"/>
                </a:solidFill>
                <a:latin typeface="Georgia"/>
              </a:rPr>
              <a:t>$1.033 M</a:t>
            </a:r>
          </a:p>
          <a:p>
            <a:pPr algn="ctr"/>
            <a:r>
              <a:rPr sz="1000" b="1">
                <a:solidFill>
                  <a:srgbClr val="3A4A3E"/>
                </a:solidFill>
                <a:latin typeface="Calibri"/>
              </a:rPr>
              <a:t>Inversión total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5472" y="1737360"/>
            <a:ext cx="2011680" cy="1737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1A2A1E"/>
                </a:solidFill>
                <a:latin typeface="Georgia"/>
              </a:rPr>
              <a:t>$33.421</a:t>
            </a:r>
          </a:p>
          <a:p>
            <a:pPr algn="ctr"/>
            <a:r>
              <a:rPr sz="1000" b="1">
                <a:solidFill>
                  <a:srgbClr val="3A4A3E"/>
                </a:solidFill>
                <a:latin typeface="Calibri"/>
              </a:rPr>
              <a:t>Costo unitario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54896" y="1737360"/>
            <a:ext cx="2011680" cy="1737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1A2A1E"/>
                </a:solidFill>
                <a:latin typeface="Georgia"/>
              </a:rPr>
              <a:t>$41.776</a:t>
            </a:r>
          </a:p>
          <a:p>
            <a:pPr algn="ctr"/>
            <a:r>
              <a:rPr sz="1000" b="1">
                <a:solidFill>
                  <a:srgbClr val="3A4A3E"/>
                </a:solidFill>
                <a:latin typeface="Calibri"/>
              </a:rPr>
              <a:t>Precio de venta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40480"/>
            <a:ext cx="2011680" cy="1737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1A2A1E"/>
                </a:solidFill>
                <a:latin typeface="Georgia"/>
              </a:rPr>
              <a:t>73.677</a:t>
            </a:r>
          </a:p>
          <a:p>
            <a:pPr algn="ctr"/>
            <a:r>
              <a:rPr sz="1000" b="1">
                <a:solidFill>
                  <a:srgbClr val="3A4A3E"/>
                </a:solidFill>
                <a:latin typeface="Calibri"/>
              </a:rPr>
              <a:t>Pto. equilibrio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06624" y="3840480"/>
            <a:ext cx="2011680" cy="1737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2C5F2D"/>
                </a:solidFill>
                <a:latin typeface="Georgia"/>
              </a:rPr>
              <a:t>$6.128 M</a:t>
            </a:r>
          </a:p>
          <a:p>
            <a:pPr algn="ctr"/>
            <a:r>
              <a:rPr sz="1000" b="1">
                <a:solidFill>
                  <a:srgbClr val="3A4A3E"/>
                </a:solidFill>
                <a:latin typeface="Calibri"/>
              </a:rPr>
              <a:t>VAN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56048" y="3840480"/>
            <a:ext cx="2011680" cy="1737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2C5F2D"/>
                </a:solidFill>
                <a:latin typeface="Georgia"/>
              </a:rPr>
              <a:t>381,98%</a:t>
            </a:r>
          </a:p>
          <a:p>
            <a:pPr algn="ctr"/>
            <a:r>
              <a:rPr sz="1000" b="1">
                <a:solidFill>
                  <a:srgbClr val="3A4A3E"/>
                </a:solidFill>
                <a:latin typeface="Calibri"/>
              </a:rPr>
              <a:t>TIR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05472" y="3840480"/>
            <a:ext cx="2011680" cy="1737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1A2A1E"/>
                </a:solidFill>
                <a:latin typeface="Georgia"/>
              </a:rPr>
              <a:t>27</a:t>
            </a:r>
          </a:p>
          <a:p>
            <a:pPr algn="ctr"/>
            <a:r>
              <a:rPr sz="1000" b="1">
                <a:solidFill>
                  <a:srgbClr val="3A4A3E"/>
                </a:solidFill>
                <a:latin typeface="Calibri"/>
              </a:rPr>
              <a:t>Empleados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54896" y="3840480"/>
            <a:ext cx="2011680" cy="1737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1A2A1E"/>
                </a:solidFill>
                <a:latin typeface="Georgia"/>
              </a:rPr>
              <a:t>4.895 m²</a:t>
            </a:r>
          </a:p>
          <a:p>
            <a:pPr algn="ctr"/>
            <a:r>
              <a:rPr sz="1000" b="1">
                <a:solidFill>
                  <a:srgbClr val="3A4A3E"/>
                </a:solidFill>
                <a:latin typeface="Calibri"/>
              </a:rPr>
              <a:t>Terreno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 i="0">
                <a:solidFill>
                  <a:srgbClr val="FFFFFF"/>
                </a:solidFill>
                <a:latin typeface="Calibri"/>
              </a:defRPr>
            </a:pPr>
            <a:r>
              <a:t>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10312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FFFFFF"/>
                </a:solidFill>
                <a:latin typeface="Georgia"/>
              </a:defRPr>
            </a:pPr>
            <a:r>
              <a:t>Gracias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3383280"/>
            <a:ext cx="1554480" cy="18288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657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BRESSO, Romina  ·  MACAGNO, Micaela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206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1">
                <a:solidFill>
                  <a:srgbClr val="999999"/>
                </a:solidFill>
                <a:latin typeface="Calibri"/>
              </a:defRPr>
            </a:pPr>
            <a:r>
              <a:t>Proyecto Final · Ingeniería Química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57200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Universidad Tecnológica Nacional — Facultad Regional San Francisco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02920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777777"/>
                </a:solidFill>
                <a:latin typeface="Calibri"/>
              </a:defRPr>
            </a:pPr>
            <a:r>
              <a:t>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